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63" r:id="rId5"/>
    <p:sldId id="264" r:id="rId6"/>
    <p:sldId id="265" r:id="rId7"/>
    <p:sldId id="286" r:id="rId8"/>
    <p:sldId id="259" r:id="rId9"/>
    <p:sldId id="266" r:id="rId10"/>
    <p:sldId id="274" r:id="rId11"/>
    <p:sldId id="277" r:id="rId12"/>
    <p:sldId id="276" r:id="rId13"/>
    <p:sldId id="278" r:id="rId14"/>
    <p:sldId id="268" r:id="rId15"/>
    <p:sldId id="275" r:id="rId16"/>
    <p:sldId id="272" r:id="rId17"/>
    <p:sldId id="260" r:id="rId18"/>
    <p:sldId id="28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77" y="5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42AD9-36DE-4DD0-AF0A-E211DB78D0B5}" type="datetimeFigureOut">
              <a:rPr lang="en-US" smtClean="0"/>
              <a:t>5/12/2024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916266-2922-41AE-BB9A-0E75A4DF5522}" type="slidenum">
              <a:rPr lang="en-US" smtClean="0"/>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BD28945-8F99-4E02-A11E-3361F1D0090B}" type="datetime1">
              <a:rPr lang="en-US" smtClean="0"/>
              <a:t>5/12/2024</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8A6395-49A2-426C-AC41-89C2C0A37201}" type="datetime1">
              <a:rPr lang="en-US" smtClean="0"/>
              <a:t>5/12/2024</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36AFAB-3FDE-4752-A15E-68D0AA6EC04D}" type="datetime1">
              <a:rPr lang="en-US" smtClean="0"/>
              <a:t>5/12/2024</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A4153D-EEBC-4E53-96C1-C56481CA6F10}" type="datetime1">
              <a:rPr lang="en-US" smtClean="0"/>
              <a:t>5/12/2024</a:t>
            </a:fld>
            <a:endParaRPr lang="en-US"/>
          </a:p>
        </p:txBody>
      </p:sp>
      <p:sp>
        <p:nvSpPr>
          <p:cNvPr id="6" name="Footer Placeholder 5"/>
          <p:cNvSpPr>
            <a:spLocks noGrp="1"/>
          </p:cNvSpPr>
          <p:nvPr>
            <p:ph type="ftr" sz="quarter" idx="11"/>
          </p:nvPr>
        </p:nvSpPr>
        <p:spPr/>
        <p:txBody>
          <a:bodyPr/>
          <a:lstStyle/>
          <a:p>
            <a:r>
              <a:rPr lang="en-US" dirty="0"/>
              <a:t>DEPARTMENT OF COMPUTER SCIENCE AND ENGINEERING </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DEBB05-BD53-43FA-8FB9-FE5C29A585F1}" type="datetime1">
              <a:rPr lang="en-US" smtClean="0"/>
              <a:t>5/12/2024</a:t>
            </a:fld>
            <a:endParaRPr lang="en-US"/>
          </a:p>
        </p:txBody>
      </p:sp>
      <p:sp>
        <p:nvSpPr>
          <p:cNvPr id="8" name="Footer Placeholder 7"/>
          <p:cNvSpPr>
            <a:spLocks noGrp="1"/>
          </p:cNvSpPr>
          <p:nvPr>
            <p:ph type="ftr" sz="quarter" idx="11"/>
          </p:nvPr>
        </p:nvSpPr>
        <p:spPr/>
        <p:txBody>
          <a:bodyPr/>
          <a:lstStyle/>
          <a:p>
            <a:r>
              <a:rPr lang="en-US" dirty="0"/>
              <a:t>DEPARTMENT OF COMPUTER SCIENCE AND ENGINEERING </a:t>
            </a:r>
          </a:p>
        </p:txBody>
      </p:sp>
      <p:sp>
        <p:nvSpPr>
          <p:cNvPr id="9" name="Slide Number Placeholder 8"/>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CFD729-3CFE-488B-8CC9-51B8A70C7ED0}" type="datetime1">
              <a:rPr lang="en-US" smtClean="0"/>
              <a:t>5/12/2024</a:t>
            </a:fld>
            <a:endParaRPr lang="en-US"/>
          </a:p>
        </p:txBody>
      </p:sp>
      <p:sp>
        <p:nvSpPr>
          <p:cNvPr id="4" name="Footer Placeholder 3"/>
          <p:cNvSpPr>
            <a:spLocks noGrp="1"/>
          </p:cNvSpPr>
          <p:nvPr>
            <p:ph type="ftr" sz="quarter" idx="11"/>
          </p:nvPr>
        </p:nvSpPr>
        <p:spPr/>
        <p:txBody>
          <a:bodyPr/>
          <a:lstStyle/>
          <a:p>
            <a:r>
              <a:rPr lang="en-US" dirty="0"/>
              <a:t>DEPARTMENT OF COMPUTER SCIENCE AND ENGINEERING </a:t>
            </a:r>
          </a:p>
        </p:txBody>
      </p:sp>
      <p:sp>
        <p:nvSpPr>
          <p:cNvPr id="5" name="Slide Number Placeholder 4"/>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5422A8-70BA-4A42-80F7-6A71259A0E44}" type="datetime1">
              <a:rPr lang="en-US" smtClean="0"/>
              <a:t>5/12/2024</a:t>
            </a:fld>
            <a:endParaRPr lang="en-US"/>
          </a:p>
        </p:txBody>
      </p:sp>
      <p:sp>
        <p:nvSpPr>
          <p:cNvPr id="3" name="Footer Placeholder 2"/>
          <p:cNvSpPr>
            <a:spLocks noGrp="1"/>
          </p:cNvSpPr>
          <p:nvPr>
            <p:ph type="ftr" sz="quarter" idx="11"/>
          </p:nvPr>
        </p:nvSpPr>
        <p:spPr/>
        <p:txBody>
          <a:bodyPr/>
          <a:lstStyle/>
          <a:p>
            <a:r>
              <a:rPr lang="en-US" dirty="0"/>
              <a:t>DEPARTMENT OF COMPUTER SCIENCE AND ENGINEERING </a:t>
            </a:r>
          </a:p>
        </p:txBody>
      </p:sp>
      <p:sp>
        <p:nvSpPr>
          <p:cNvPr id="4" name="Slide Number Placeholder 3"/>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FBCE5-122F-454D-8DAD-8D22FD23A923}" type="datetime1">
              <a:rPr lang="en-US" smtClean="0"/>
              <a:t>5/12/2024</a:t>
            </a:fld>
            <a:endParaRPr lang="en-US"/>
          </a:p>
        </p:txBody>
      </p:sp>
      <p:sp>
        <p:nvSpPr>
          <p:cNvPr id="6" name="Footer Placeholder 5"/>
          <p:cNvSpPr>
            <a:spLocks noGrp="1"/>
          </p:cNvSpPr>
          <p:nvPr>
            <p:ph type="ftr" sz="quarter" idx="11"/>
          </p:nvPr>
        </p:nvSpPr>
        <p:spPr/>
        <p:txBody>
          <a:bodyPr/>
          <a:lstStyle/>
          <a:p>
            <a:r>
              <a:rPr lang="en-US" dirty="0"/>
              <a:t>DEPARTMENT OF COMPUTER SCIENCE AND ENGINEERING </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15FD70-963E-483D-BFB3-2B80F46D4AEE}" type="datetime1">
              <a:rPr lang="en-US" smtClean="0"/>
              <a:t>5/12/2024</a:t>
            </a:fld>
            <a:endParaRPr lang="en-US"/>
          </a:p>
        </p:txBody>
      </p:sp>
      <p:sp>
        <p:nvSpPr>
          <p:cNvPr id="6" name="Footer Placeholder 5"/>
          <p:cNvSpPr>
            <a:spLocks noGrp="1"/>
          </p:cNvSpPr>
          <p:nvPr>
            <p:ph type="ftr" sz="quarter" idx="11"/>
          </p:nvPr>
        </p:nvSpPr>
        <p:spPr/>
        <p:txBody>
          <a:bodyPr/>
          <a:lstStyle/>
          <a:p>
            <a:r>
              <a:rPr lang="en-US" dirty="0"/>
              <a:t>DEPARTMENT OF COMPUTER SCIENCE AND ENGINEERING </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714B89-C911-417A-962D-53F26988AC37}" type="datetime1">
              <a:rPr lang="en-US" smtClean="0"/>
              <a:t>5/12/2024</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D23F8C-8AB8-49D0-9E45-DE6AE712D18D}" type="datetime1">
              <a:rPr lang="en-US" smtClean="0"/>
              <a:t>5/12/2024</a:t>
            </a:fld>
            <a:endParaRPr lang="en-US"/>
          </a:p>
        </p:txBody>
      </p:sp>
      <p:sp>
        <p:nvSpPr>
          <p:cNvPr id="5" name="Footer Placeholder 4"/>
          <p:cNvSpPr>
            <a:spLocks noGrp="1"/>
          </p:cNvSpPr>
          <p:nvPr>
            <p:ph type="ftr" sz="quarter" idx="11"/>
          </p:nvPr>
        </p:nvSpPr>
        <p:spPr/>
        <p:txBody>
          <a:bodyPr/>
          <a:lstStyle/>
          <a:p>
            <a:r>
              <a:rPr lang="en-US" dirty="0"/>
              <a:t>DEPARTMENT OF COMPUTER SCIENCE AND ENGINEERING </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CCCFAA-50CC-45AC-B32E-8C3237FCF263}" type="datetime1">
              <a:rPr lang="en-US" smtClean="0"/>
              <a:t>5/12/2024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DEPARTMENT OF COMPUTER SCIENCE AND ENGINEERING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186/s11658-023-00442-z" TargetMode="External"/><Relationship Id="rId2" Type="http://schemas.openxmlformats.org/officeDocument/2006/relationships/hyperlink" Target="https://doi.org/10.1016/j.suronc.2022.101807"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109/tbme.2023.3265679/mm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4600" y="469900"/>
            <a:ext cx="6248400" cy="1330326"/>
          </a:xfrm>
        </p:spPr>
        <p:txBody>
          <a:bodyPr>
            <a:noAutofit/>
          </a:bodyPr>
          <a:lstStyle/>
          <a:p>
            <a:r>
              <a:rPr lang="en-US" sz="1800" b="1" dirty="0">
                <a:latin typeface="Times New Roman" panose="02020603050405020304" charset="0"/>
                <a:cs typeface="Times New Roman" panose="02020603050405020304" charset="0"/>
              </a:rPr>
              <a:t>SRM INSTITUTE OF SCIENCE AND TECHNOLOGY</a:t>
            </a:r>
            <a:br>
              <a:rPr lang="en-US" sz="1800" b="1" dirty="0">
                <a:latin typeface="Times New Roman" panose="02020603050405020304" charset="0"/>
                <a:cs typeface="Times New Roman" panose="02020603050405020304" charset="0"/>
              </a:rPr>
            </a:br>
            <a:r>
              <a:rPr lang="en-US" sz="1800" b="1" dirty="0">
                <a:latin typeface="Times New Roman" panose="02020603050405020304" charset="0"/>
                <a:cs typeface="Times New Roman" panose="02020603050405020304" charset="0"/>
              </a:rPr>
              <a:t>Ramapuram , Chennai – 600 089</a:t>
            </a:r>
            <a:br>
              <a:rPr lang="en-US" sz="1800" b="1" dirty="0">
                <a:latin typeface="Times New Roman" panose="02020603050405020304" charset="0"/>
                <a:cs typeface="Times New Roman" panose="02020603050405020304" charset="0"/>
              </a:rPr>
            </a:br>
            <a:r>
              <a:rPr lang="en-US" sz="1600" b="1" dirty="0">
                <a:latin typeface="Times New Roman" panose="02020603050405020304" charset="0"/>
                <a:cs typeface="Times New Roman" panose="02020603050405020304" charset="0"/>
              </a:rPr>
              <a:t>DEPARTMENT OF COMPUTER SCIENCE AND ENGINEERING</a:t>
            </a:r>
            <a:endParaRPr lang="en-US" sz="1800" dirty="0"/>
          </a:p>
        </p:txBody>
      </p:sp>
      <p:sp>
        <p:nvSpPr>
          <p:cNvPr id="3" name="Subtitle 2"/>
          <p:cNvSpPr>
            <a:spLocks noGrp="1"/>
          </p:cNvSpPr>
          <p:nvPr>
            <p:ph type="subTitle" idx="1"/>
          </p:nvPr>
        </p:nvSpPr>
        <p:spPr>
          <a:xfrm>
            <a:off x="609600" y="1860551"/>
            <a:ext cx="8077200" cy="1873249"/>
          </a:xfrm>
        </p:spPr>
        <p:txBody>
          <a:bodyPr>
            <a:noAutofit/>
          </a:bodyPr>
          <a:lstStyle/>
          <a:p>
            <a:r>
              <a:rPr lang="en-IN" dirty="0">
                <a:solidFill>
                  <a:schemeClr val="tx1"/>
                </a:solidFill>
              </a:rPr>
              <a:t>18CSP109L- PROJECT </a:t>
            </a:r>
            <a:endParaRPr lang="en-US" dirty="0">
              <a:solidFill>
                <a:schemeClr val="tx1"/>
              </a:solidFill>
            </a:endParaRPr>
          </a:p>
          <a:p>
            <a:r>
              <a:rPr lang="en-US" dirty="0">
                <a:solidFill>
                  <a:schemeClr val="tx1"/>
                </a:solidFill>
              </a:rPr>
              <a:t>Bladder Tissue Classification in Multi-Domain Endoscopic Images using Deep Learning</a:t>
            </a:r>
          </a:p>
          <a:p>
            <a:endParaRPr lang="en-US" dirty="0">
              <a:solidFill>
                <a:schemeClr val="tx1"/>
              </a:solidFill>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 y="609600"/>
            <a:ext cx="26955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ubtitle 2"/>
          <p:cNvSpPr txBox="1">
            <a:spLocks/>
          </p:cNvSpPr>
          <p:nvPr/>
        </p:nvSpPr>
        <p:spPr>
          <a:xfrm>
            <a:off x="1524000" y="3505200"/>
            <a:ext cx="6400800" cy="838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a:solidFill>
                  <a:schemeClr val="tx1"/>
                </a:solidFill>
              </a:rPr>
              <a:t>BATCH NUMBER : J8</a:t>
            </a:r>
          </a:p>
        </p:txBody>
      </p:sp>
      <p:graphicFrame>
        <p:nvGraphicFramePr>
          <p:cNvPr id="6" name="Table 5"/>
          <p:cNvGraphicFramePr>
            <a:graphicFrameLocks noGrp="1"/>
          </p:cNvGraphicFramePr>
          <p:nvPr>
            <p:extLst>
              <p:ext uri="{D42A27DB-BD31-4B8C-83A1-F6EECF244321}">
                <p14:modId xmlns:p14="http://schemas.microsoft.com/office/powerpoint/2010/main" val="2625047782"/>
              </p:ext>
            </p:extLst>
          </p:nvPr>
        </p:nvGraphicFramePr>
        <p:xfrm>
          <a:off x="304800" y="4114800"/>
          <a:ext cx="8305800" cy="2133600"/>
        </p:xfrm>
        <a:graphic>
          <a:graphicData uri="http://schemas.openxmlformats.org/drawingml/2006/table">
            <a:tbl>
              <a:tblPr firstRow="1" bandRow="1">
                <a:tableStyleId>{BDBED569-4797-4DF1-A0F4-6AAB3CD982D8}</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3741">
                <a:tc>
                  <a:txBody>
                    <a:bodyPr/>
                    <a:lstStyle/>
                    <a:p>
                      <a:r>
                        <a:rPr lang="en-US" dirty="0"/>
                        <a:t>Team Members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Supervisor</a:t>
                      </a:r>
                    </a:p>
                  </a:txBody>
                  <a:tcPr/>
                </a:tc>
                <a:extLst>
                  <a:ext uri="{0D108BD9-81ED-4DB2-BD59-A6C34878D82A}">
                    <a16:rowId xmlns:a16="http://schemas.microsoft.com/office/drawing/2014/main" val="10000"/>
                  </a:ext>
                </a:extLst>
              </a:tr>
              <a:tr h="1749859">
                <a:tc>
                  <a:txBody>
                    <a:bodyPr/>
                    <a:lstStyle/>
                    <a:p>
                      <a:r>
                        <a:rPr lang="en-US" dirty="0"/>
                        <a:t>KIRTAN YOGESHKUMAR GHELANI</a:t>
                      </a:r>
                    </a:p>
                    <a:p>
                      <a:r>
                        <a:rPr lang="en-US" dirty="0"/>
                        <a:t>[RA2011003020037]</a:t>
                      </a:r>
                    </a:p>
                    <a:p>
                      <a:endParaRPr lang="en-US" dirty="0"/>
                    </a:p>
                    <a:p>
                      <a:r>
                        <a:rPr lang="en-US" dirty="0"/>
                        <a:t>YASH MISHRA [RA2011003020047]</a:t>
                      </a:r>
                    </a:p>
                    <a:p>
                      <a:endParaRPr lang="en-US" dirty="0"/>
                    </a:p>
                    <a:p>
                      <a:r>
                        <a:rPr lang="en-US" dirty="0"/>
                        <a:t>MIHIR SINGH YADAV [RA2011003020072]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NAME: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Dr. S. S. Sathya</a:t>
                      </a:r>
                    </a:p>
                  </a:txBody>
                  <a:tcPr/>
                </a:tc>
                <a:extLst>
                  <a:ext uri="{0D108BD9-81ED-4DB2-BD59-A6C34878D82A}">
                    <a16:rowId xmlns:a16="http://schemas.microsoft.com/office/drawing/2014/main" val="10001"/>
                  </a:ext>
                </a:extLst>
              </a:tr>
            </a:tbl>
          </a:graphicData>
        </a:graphic>
      </p:graphicFrame>
      <p:sp>
        <p:nvSpPr>
          <p:cNvPr id="7" name="Footer Placeholder 6"/>
          <p:cNvSpPr>
            <a:spLocks noGrp="1"/>
          </p:cNvSpPr>
          <p:nvPr>
            <p:ph type="ftr" sz="quarter" idx="11"/>
          </p:nvPr>
        </p:nvSpPr>
        <p:spPr>
          <a:xfrm>
            <a:off x="533400" y="6356351"/>
            <a:ext cx="8077200" cy="273049"/>
          </a:xfrm>
        </p:spPr>
        <p:txBody>
          <a:bodyPr/>
          <a:lstStyle/>
          <a:p>
            <a:r>
              <a:rPr lang="en-GB"/>
              <a:t>DEPARTMENT OF COMPUTER SCIENCE AND ENGINEERING </a:t>
            </a:r>
            <a:endParaRPr lang="en-US" dirty="0"/>
          </a:p>
        </p:txBody>
      </p:sp>
      <p:sp>
        <p:nvSpPr>
          <p:cNvPr id="8" name="Date Placeholder 7">
            <a:extLst>
              <a:ext uri="{FF2B5EF4-FFF2-40B4-BE49-F238E27FC236}">
                <a16:creationId xmlns:a16="http://schemas.microsoft.com/office/drawing/2014/main" id="{632A5F46-CAD9-41D3-9555-D54795541A09}"/>
              </a:ext>
            </a:extLst>
          </p:cNvPr>
          <p:cNvSpPr>
            <a:spLocks noGrp="1"/>
          </p:cNvSpPr>
          <p:nvPr>
            <p:ph type="dt" sz="half" idx="10"/>
          </p:nvPr>
        </p:nvSpPr>
        <p:spPr/>
        <p:txBody>
          <a:bodyPr/>
          <a:lstStyle/>
          <a:p>
            <a:fld id="{619914CC-E231-4A51-92BC-7296844CCF2D}" type="datetime1">
              <a:rPr lang="en-US" smtClean="0"/>
              <a:t>5/12/2024</a:t>
            </a:fld>
            <a:endParaRPr lang="en-US"/>
          </a:p>
        </p:txBody>
      </p:sp>
      <p:sp>
        <p:nvSpPr>
          <p:cNvPr id="9" name="Slide Number Placeholder 8">
            <a:extLst>
              <a:ext uri="{FF2B5EF4-FFF2-40B4-BE49-F238E27FC236}">
                <a16:creationId xmlns:a16="http://schemas.microsoft.com/office/drawing/2014/main" id="{BCFAAF39-CA00-7EC4-E44A-5C01B7280629}"/>
              </a:ext>
            </a:extLst>
          </p:cNvPr>
          <p:cNvSpPr>
            <a:spLocks noGrp="1"/>
          </p:cNvSpPr>
          <p:nvPr>
            <p:ph type="sldNum" sz="quarter" idx="12"/>
          </p:nvPr>
        </p:nvSpPr>
        <p:spPr/>
        <p:txBody>
          <a:bodyPr/>
          <a:lstStyle/>
          <a:p>
            <a:fld id="{BECDEB80-DBCE-406A-80BF-FEBEE692EE79}" type="slidenum">
              <a:rPr lang="en-US" smtClean="0"/>
              <a:t>1</a:t>
            </a:fld>
            <a:endParaRPr lang="en-US"/>
          </a:p>
        </p:txBody>
      </p:sp>
    </p:spTree>
    <p:extLst>
      <p:ext uri="{BB962C8B-B14F-4D97-AF65-F5344CB8AC3E}">
        <p14:creationId xmlns:p14="http://schemas.microsoft.com/office/powerpoint/2010/main" val="268442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Agenda</a:t>
            </a:r>
          </a:p>
        </p:txBody>
      </p:sp>
      <p:sp>
        <p:nvSpPr>
          <p:cNvPr id="3" name="Content Placeholder 2"/>
          <p:cNvSpPr>
            <a:spLocks noGrp="1"/>
          </p:cNvSpPr>
          <p:nvPr>
            <p:ph idx="1"/>
          </p:nvPr>
        </p:nvSpPr>
        <p:spPr/>
        <p:txBody>
          <a:bodyPr>
            <a:normAutofit fontScale="92500" lnSpcReduction="20000"/>
          </a:bodyPr>
          <a:lstStyle/>
          <a:p>
            <a:pPr rtl="0" fontAlgn="base">
              <a:spcBef>
                <a:spcPts val="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Abstract</a:t>
            </a:r>
            <a:endParaRPr lang="en-US" sz="1800" b="0" i="0" u="none" strike="noStrike" dirty="0">
              <a:solidFill>
                <a:srgbClr val="000000"/>
              </a:solidFill>
              <a:effectLst/>
              <a:latin typeface="Arial" panose="020B0604020202020204" pitchFamily="34" charset="0"/>
            </a:endParaRP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Scope and Motivation</a:t>
            </a:r>
            <a:endParaRPr lang="en-US" sz="1800" b="0" i="0" u="none" strike="noStrike" dirty="0">
              <a:solidFill>
                <a:srgbClr val="000000"/>
              </a:solidFill>
              <a:effectLst/>
              <a:latin typeface="Arial" panose="020B0604020202020204" pitchFamily="34" charset="0"/>
            </a:endParaRP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Introduction</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Literature Survey ( Table)</a:t>
            </a: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Objective</a:t>
            </a:r>
            <a:endParaRPr lang="en-US" sz="1800" b="0" i="0" u="none" strike="noStrike" dirty="0">
              <a:solidFill>
                <a:srgbClr val="000000"/>
              </a:solidFill>
              <a:effectLst/>
              <a:latin typeface="Calibri" panose="020F0502020204030204" pitchFamily="34" charset="0"/>
            </a:endParaRP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Problem Statement</a:t>
            </a: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Proposed Work</a:t>
            </a:r>
          </a:p>
          <a:p>
            <a:pPr lvl="1" fontAlgn="base">
              <a:spcBef>
                <a:spcPts val="1000"/>
              </a:spcBef>
              <a:buFont typeface="Arial" panose="020B0604020202020204" pitchFamily="34" charset="0"/>
              <a:buChar char="•"/>
            </a:pPr>
            <a:r>
              <a:rPr lang="en-US" sz="1400" b="0" i="0" u="none" strike="noStrike" dirty="0">
                <a:solidFill>
                  <a:srgbClr val="000000"/>
                </a:solidFill>
                <a:effectLst/>
                <a:latin typeface="Calibri" panose="020F0502020204030204" pitchFamily="34" charset="0"/>
              </a:rPr>
              <a:t>Architecture Diagram/Flow Diagram/Block Diagram</a:t>
            </a:r>
          </a:p>
          <a:p>
            <a:pPr lvl="1" fontAlgn="base">
              <a:spcBef>
                <a:spcPts val="1000"/>
              </a:spcBef>
              <a:buFont typeface="Arial" panose="020B0604020202020204" pitchFamily="34" charset="0"/>
              <a:buChar char="•"/>
            </a:pPr>
            <a:r>
              <a:rPr lang="en-US" sz="1400" dirty="0">
                <a:solidFill>
                  <a:srgbClr val="000000"/>
                </a:solidFill>
                <a:latin typeface="Calibri" panose="020F0502020204030204" pitchFamily="34" charset="0"/>
              </a:rPr>
              <a:t>Novel idea</a:t>
            </a:r>
          </a:p>
          <a:p>
            <a:pPr lvl="1" fontAlgn="base">
              <a:spcBef>
                <a:spcPts val="1000"/>
              </a:spcBef>
              <a:buFont typeface="Arial" panose="020B0604020202020204" pitchFamily="34" charset="0"/>
              <a:buChar char="•"/>
            </a:pPr>
            <a:r>
              <a:rPr lang="en-US" sz="1400" dirty="0">
                <a:solidFill>
                  <a:srgbClr val="000000"/>
                </a:solidFill>
                <a:latin typeface="Calibri" panose="020F0502020204030204" pitchFamily="34" charset="0"/>
              </a:rPr>
              <a:t>Modules</a:t>
            </a:r>
          </a:p>
          <a:p>
            <a:pPr lvl="1" fontAlgn="base">
              <a:spcBef>
                <a:spcPts val="1000"/>
              </a:spcBef>
              <a:buFont typeface="Arial" panose="020B0604020202020204" pitchFamily="34" charset="0"/>
              <a:buChar char="•"/>
            </a:pPr>
            <a:r>
              <a:rPr lang="en-US" sz="1400" dirty="0">
                <a:solidFill>
                  <a:srgbClr val="000000"/>
                </a:solidFill>
                <a:latin typeface="Calibri" panose="020F0502020204030204" pitchFamily="34" charset="0"/>
              </a:rPr>
              <a:t>Module Description</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Software &amp; Hardware Requirements</a:t>
            </a:r>
          </a:p>
          <a:p>
            <a:pPr rtl="0" fontAlgn="base">
              <a:spcBef>
                <a:spcPts val="1000"/>
              </a:spcBef>
              <a:spcAft>
                <a:spcPts val="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References (Base paper hard copy to be submitted to the supervisor.)</a:t>
            </a:r>
          </a:p>
          <a:p>
            <a:pPr rtl="0" fontAlgn="base">
              <a:spcBef>
                <a:spcPts val="1000"/>
              </a:spcBef>
              <a:spcAft>
                <a:spcPts val="0"/>
              </a:spcAft>
              <a:buFont typeface="Arial" panose="020B0604020202020204" pitchFamily="34" charset="0"/>
              <a:buChar char="•"/>
            </a:pPr>
            <a:r>
              <a:rPr lang="en-US" sz="1800" dirty="0">
                <a:solidFill>
                  <a:srgbClr val="000000"/>
                </a:solidFill>
                <a:latin typeface="Calibri" panose="020F0502020204030204" pitchFamily="34" charset="0"/>
              </a:rPr>
              <a:t>Way forward towards Outcome (Research Paper/Patent)</a:t>
            </a:r>
            <a:endParaRPr lang="en-US" sz="1800" b="0" i="0" u="none" strike="noStrike" dirty="0">
              <a:solidFill>
                <a:srgbClr val="000000"/>
              </a:solidFill>
              <a:effectLst/>
              <a:latin typeface="Arial" panose="020B0604020202020204" pitchFamily="34" charset="0"/>
            </a:endParaRPr>
          </a:p>
          <a:p>
            <a:endParaRPr lang="en-US" dirty="0"/>
          </a:p>
        </p:txBody>
      </p:sp>
      <p:sp>
        <p:nvSpPr>
          <p:cNvPr id="4" name="Footer Placeholder 3"/>
          <p:cNvSpPr>
            <a:spLocks noGrp="1"/>
          </p:cNvSpPr>
          <p:nvPr>
            <p:ph type="ftr" sz="quarter" idx="11"/>
          </p:nvPr>
        </p:nvSpPr>
        <p:spPr>
          <a:xfrm>
            <a:off x="457200" y="6356350"/>
            <a:ext cx="8229600" cy="425450"/>
          </a:xfrm>
        </p:spPr>
        <p:txBody>
          <a:bodyPr/>
          <a:lstStyle/>
          <a:p>
            <a:r>
              <a:rPr lang="en-GB"/>
              <a:t>Department of Computer Science and Engineering</a:t>
            </a:r>
            <a:endParaRPr lang="en-US" dirty="0"/>
          </a:p>
        </p:txBody>
      </p:sp>
      <p:sp>
        <p:nvSpPr>
          <p:cNvPr id="5" name="Date Placeholder 4">
            <a:extLst>
              <a:ext uri="{FF2B5EF4-FFF2-40B4-BE49-F238E27FC236}">
                <a16:creationId xmlns:a16="http://schemas.microsoft.com/office/drawing/2014/main" id="{BE457006-45D7-323C-47A4-A24D32800660}"/>
              </a:ext>
            </a:extLst>
          </p:cNvPr>
          <p:cNvSpPr>
            <a:spLocks noGrp="1"/>
          </p:cNvSpPr>
          <p:nvPr>
            <p:ph type="dt" sz="half" idx="10"/>
          </p:nvPr>
        </p:nvSpPr>
        <p:spPr/>
        <p:txBody>
          <a:bodyPr/>
          <a:lstStyle/>
          <a:p>
            <a:fld id="{4E30BCD7-94F9-464D-8DA5-505237A0122A}" type="datetime1">
              <a:rPr lang="en-US" smtClean="0"/>
              <a:t>5/12/2024</a:t>
            </a:fld>
            <a:endParaRPr lang="en-US"/>
          </a:p>
        </p:txBody>
      </p:sp>
      <p:sp>
        <p:nvSpPr>
          <p:cNvPr id="6" name="Slide Number Placeholder 5">
            <a:extLst>
              <a:ext uri="{FF2B5EF4-FFF2-40B4-BE49-F238E27FC236}">
                <a16:creationId xmlns:a16="http://schemas.microsoft.com/office/drawing/2014/main" id="{8E94E151-E0C5-A66A-0A3E-12A6B77DD31C}"/>
              </a:ext>
            </a:extLst>
          </p:cNvPr>
          <p:cNvSpPr>
            <a:spLocks noGrp="1"/>
          </p:cNvSpPr>
          <p:nvPr>
            <p:ph type="sldNum" sz="quarter" idx="12"/>
          </p:nvPr>
        </p:nvSpPr>
        <p:spPr/>
        <p:txBody>
          <a:bodyPr/>
          <a:lstStyle/>
          <a:p>
            <a:fld id="{BECDEB80-DBCE-406A-80BF-FEBEE692EE79}" type="slidenum">
              <a:rPr lang="en-US" smtClean="0"/>
              <a:t>2</a:t>
            </a:fld>
            <a:endParaRPr lang="en-US"/>
          </a:p>
        </p:txBody>
      </p:sp>
    </p:spTree>
    <p:extLst>
      <p:ext uri="{BB962C8B-B14F-4D97-AF65-F5344CB8AC3E}">
        <p14:creationId xmlns:p14="http://schemas.microsoft.com/office/powerpoint/2010/main" val="4235830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ABSTRACT</a:t>
            </a:r>
          </a:p>
        </p:txBody>
      </p:sp>
      <p:sp>
        <p:nvSpPr>
          <p:cNvPr id="3" name="Content Placeholder 2"/>
          <p:cNvSpPr>
            <a:spLocks noGrp="1"/>
          </p:cNvSpPr>
          <p:nvPr>
            <p:ph idx="1"/>
          </p:nvPr>
        </p:nvSpPr>
        <p:spPr/>
        <p:txBody>
          <a:bodyPr>
            <a:normAutofit fontScale="92500" lnSpcReduction="10000"/>
          </a:bodyPr>
          <a:lstStyle/>
          <a:p>
            <a:pPr algn="just"/>
            <a:r>
              <a:rPr lang="en-GB" sz="1600" dirty="0"/>
              <a:t>Accurate classification of bladder tissue during Trans-Urethral Resection of Bladder </a:t>
            </a:r>
            <a:r>
              <a:rPr lang="en-GB" sz="1600" dirty="0" err="1"/>
              <a:t>Tumor</a:t>
            </a:r>
            <a:r>
              <a:rPr lang="en-GB" sz="1600" dirty="0"/>
              <a:t> (TURBT) procedures is vital for early cancer diagnosis and treatment improvement. </a:t>
            </a:r>
          </a:p>
          <a:p>
            <a:pPr algn="just"/>
            <a:r>
              <a:rPr lang="en-GB" sz="1600" dirty="0"/>
              <a:t>White Light Imaging (WLI) and Narrow Band Imaging (NBI) techniques aid in lesion detection, each providing distinct visual cues. </a:t>
            </a:r>
          </a:p>
          <a:p>
            <a:pPr algn="just"/>
            <a:r>
              <a:rPr lang="en-GB" sz="1600" dirty="0"/>
              <a:t>Integrating both techniques via computer vision methods could enhance endoscopic diagnosis. </a:t>
            </a:r>
          </a:p>
          <a:p>
            <a:pPr algn="just"/>
            <a:r>
              <a:rPr lang="en-GB" sz="1600" dirty="0"/>
              <a:t>However, challenges arise when annotations are limited to WLI, creating unpaired datasets between NBI and WLI domains. </a:t>
            </a:r>
          </a:p>
          <a:p>
            <a:pPr algn="just"/>
            <a:r>
              <a:rPr lang="en-GB" sz="1600" dirty="0"/>
              <a:t>In this study, our method leverages a </a:t>
            </a:r>
            <a:r>
              <a:rPr lang="en-GB" sz="1600" b="1" dirty="0"/>
              <a:t>ResNet50-based architecture </a:t>
            </a:r>
            <a:r>
              <a:rPr lang="en-GB" sz="1600" dirty="0"/>
              <a:t>for accurate classification. The approach comprises a teacher network trained on labelled WLI data and a multi-input student network. </a:t>
            </a:r>
          </a:p>
          <a:p>
            <a:pPr algn="just"/>
            <a:r>
              <a:rPr lang="en-GB" sz="1600" dirty="0"/>
              <a:t>We evaluate the classification performance using quantitative metrics and specialist validation. Our method achieves outstanding results on both the training and test sets. For the training set, we achieve a precision, recall, and F1-score of 0.96, 0.95, and 0.95, respectively, with an overall accuracy of </a:t>
            </a:r>
            <a:r>
              <a:rPr lang="en-GB" sz="1600" b="1" dirty="0"/>
              <a:t>0.96</a:t>
            </a:r>
            <a:r>
              <a:rPr lang="en-GB" sz="1600" dirty="0"/>
              <a:t>. On the test set, our approach demonstrates a precision, recall, and F1-score of 0.82, 0.73, and 0.75, respectively, with an accuracy of </a:t>
            </a:r>
            <a:r>
              <a:rPr lang="en-GB" sz="1600" b="1" dirty="0"/>
              <a:t>0.83</a:t>
            </a:r>
            <a:r>
              <a:rPr lang="en-GB" sz="1600" dirty="0"/>
              <a:t>. </a:t>
            </a:r>
          </a:p>
          <a:p>
            <a:pPr algn="just"/>
            <a:r>
              <a:rPr lang="en-GB" sz="1600" dirty="0"/>
              <a:t>These results highlight the robustness of our ResNet50-based approach in accurately classifying bladder tissue, even in the presence of limited annotations. This study underscores the potential of ResNet50-based bladder tissue classification in multidomain data, offering a promising avenue for improving diagnostic accuracy in clinical settings</a:t>
            </a:r>
            <a:endParaRPr lang="en-US" sz="1600" dirty="0"/>
          </a:p>
        </p:txBody>
      </p:sp>
      <p:sp>
        <p:nvSpPr>
          <p:cNvPr id="4" name="Footer Placeholder 3"/>
          <p:cNvSpPr>
            <a:spLocks noGrp="1"/>
          </p:cNvSpPr>
          <p:nvPr>
            <p:ph type="ftr" sz="quarter" idx="11"/>
          </p:nvPr>
        </p:nvSpPr>
        <p:spPr>
          <a:xfrm>
            <a:off x="457200" y="6356351"/>
            <a:ext cx="8229600" cy="349249"/>
          </a:xfrm>
        </p:spPr>
        <p:txBody>
          <a:bodyPr/>
          <a:lstStyle/>
          <a:p>
            <a:r>
              <a:rPr lang="en-GB"/>
              <a:t>DEPARTMENT OF COMPUTER SCIENCE AND ENGINEERING </a:t>
            </a:r>
            <a:endParaRPr lang="en-US" dirty="0"/>
          </a:p>
        </p:txBody>
      </p:sp>
      <p:sp>
        <p:nvSpPr>
          <p:cNvPr id="5" name="Date Placeholder 4">
            <a:extLst>
              <a:ext uri="{FF2B5EF4-FFF2-40B4-BE49-F238E27FC236}">
                <a16:creationId xmlns:a16="http://schemas.microsoft.com/office/drawing/2014/main" id="{82FB53E3-38EF-C600-08CC-5A4B38E56F21}"/>
              </a:ext>
            </a:extLst>
          </p:cNvPr>
          <p:cNvSpPr>
            <a:spLocks noGrp="1"/>
          </p:cNvSpPr>
          <p:nvPr>
            <p:ph type="dt" sz="half" idx="10"/>
          </p:nvPr>
        </p:nvSpPr>
        <p:spPr/>
        <p:txBody>
          <a:bodyPr/>
          <a:lstStyle/>
          <a:p>
            <a:fld id="{A1DA8B79-F76D-4FA0-B9A7-8E633CA92420}" type="datetime1">
              <a:rPr lang="en-US" smtClean="0"/>
              <a:t>5/12/2024</a:t>
            </a:fld>
            <a:endParaRPr lang="en-US"/>
          </a:p>
        </p:txBody>
      </p:sp>
      <p:sp>
        <p:nvSpPr>
          <p:cNvPr id="6" name="Slide Number Placeholder 5">
            <a:extLst>
              <a:ext uri="{FF2B5EF4-FFF2-40B4-BE49-F238E27FC236}">
                <a16:creationId xmlns:a16="http://schemas.microsoft.com/office/drawing/2014/main" id="{00D32881-3CF2-391A-0EEA-96079B01ED2C}"/>
              </a:ext>
            </a:extLst>
          </p:cNvPr>
          <p:cNvSpPr>
            <a:spLocks noGrp="1"/>
          </p:cNvSpPr>
          <p:nvPr>
            <p:ph type="sldNum" sz="quarter" idx="12"/>
          </p:nvPr>
        </p:nvSpPr>
        <p:spPr/>
        <p:txBody>
          <a:bodyPr/>
          <a:lstStyle/>
          <a:p>
            <a:fld id="{BECDEB80-DBCE-406A-80BF-FEBEE692EE79}" type="slidenum">
              <a:rPr lang="en-US" smtClean="0"/>
              <a:t>3</a:t>
            </a:fld>
            <a:endParaRPr lang="en-US"/>
          </a:p>
        </p:txBody>
      </p:sp>
    </p:spTree>
    <p:extLst>
      <p:ext uri="{BB962C8B-B14F-4D97-AF65-F5344CB8AC3E}">
        <p14:creationId xmlns:p14="http://schemas.microsoft.com/office/powerpoint/2010/main" val="468812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E3B-EF69-0977-AFB9-235BDA5C72E9}"/>
              </a:ext>
            </a:extLst>
          </p:cNvPr>
          <p:cNvSpPr>
            <a:spLocks noGrp="1"/>
          </p:cNvSpPr>
          <p:nvPr>
            <p:ph type="title"/>
          </p:nvPr>
        </p:nvSpPr>
        <p:spPr/>
        <p:txBody>
          <a:bodyPr/>
          <a:lstStyle/>
          <a:p>
            <a:r>
              <a:rPr lang="en-US" dirty="0"/>
              <a:t>Scope and Motivation</a:t>
            </a:r>
            <a:endParaRPr lang="en-IN" dirty="0"/>
          </a:p>
        </p:txBody>
      </p:sp>
      <p:sp>
        <p:nvSpPr>
          <p:cNvPr id="3" name="Content Placeholder 2">
            <a:extLst>
              <a:ext uri="{FF2B5EF4-FFF2-40B4-BE49-F238E27FC236}">
                <a16:creationId xmlns:a16="http://schemas.microsoft.com/office/drawing/2014/main" id="{019A989F-FD18-DCF6-CF7A-D71DEBBB3FF4}"/>
              </a:ext>
            </a:extLst>
          </p:cNvPr>
          <p:cNvSpPr>
            <a:spLocks noGrp="1"/>
          </p:cNvSpPr>
          <p:nvPr>
            <p:ph idx="1"/>
          </p:nvPr>
        </p:nvSpPr>
        <p:spPr/>
        <p:txBody>
          <a:bodyPr>
            <a:normAutofit fontScale="92500" lnSpcReduction="10000"/>
          </a:bodyPr>
          <a:lstStyle/>
          <a:p>
            <a:pPr algn="just"/>
            <a:r>
              <a:rPr lang="en-GB" sz="2400" dirty="0"/>
              <a:t>This project operates within the realm of medical image analysis, focusing specifically on the classification of bladder tissue. </a:t>
            </a:r>
          </a:p>
          <a:p>
            <a:pPr algn="just"/>
            <a:r>
              <a:rPr lang="en-GB" sz="2400" dirty="0"/>
              <a:t>It involves </a:t>
            </a:r>
            <a:r>
              <a:rPr lang="en-GB" sz="2400" dirty="0" err="1"/>
              <a:t>analyzing</a:t>
            </a:r>
            <a:r>
              <a:rPr lang="en-GB" sz="2400" dirty="0"/>
              <a:t> </a:t>
            </a:r>
            <a:r>
              <a:rPr lang="en-GB" sz="2400" b="1" dirty="0"/>
              <a:t>endoscopic images </a:t>
            </a:r>
            <a:r>
              <a:rPr lang="en-GB" sz="2400" dirty="0"/>
              <a:t>acquired from different imaging modalities during Trans-Urethral Resection of the Bladder </a:t>
            </a:r>
            <a:r>
              <a:rPr lang="en-GB" sz="2400" dirty="0" err="1"/>
              <a:t>Tumor</a:t>
            </a:r>
            <a:r>
              <a:rPr lang="en-GB" sz="2400" dirty="0"/>
              <a:t> procedures. </a:t>
            </a:r>
          </a:p>
          <a:p>
            <a:pPr algn="just"/>
            <a:r>
              <a:rPr lang="en-GB" sz="2400" dirty="0"/>
              <a:t>The goal of the project is to develop algorithms and methodologies capable of accurately </a:t>
            </a:r>
            <a:r>
              <a:rPr lang="en-GB" sz="2400" b="1" dirty="0"/>
              <a:t>categorizing bladder tissue </a:t>
            </a:r>
            <a:r>
              <a:rPr lang="en-GB" sz="2400" dirty="0"/>
              <a:t>based on visual data extracted from diverse imaging techniques, including White Light Imaging and Narrow Band Imaging. </a:t>
            </a:r>
          </a:p>
          <a:p>
            <a:pPr algn="just"/>
            <a:r>
              <a:rPr lang="en-GB" sz="2400" dirty="0"/>
              <a:t>By tackling the complexities associated with </a:t>
            </a:r>
            <a:r>
              <a:rPr lang="en-GB" sz="2400" dirty="0" err="1"/>
              <a:t>analyzing</a:t>
            </a:r>
            <a:r>
              <a:rPr lang="en-GB" sz="2400" dirty="0"/>
              <a:t> images from multiple domains during TURBT procedures, this project contributes to the enhancement of computer-aided diagnosis systems for the detection and classification of bladder cancer</a:t>
            </a:r>
            <a:endParaRPr lang="en-IN" sz="2400" dirty="0"/>
          </a:p>
        </p:txBody>
      </p:sp>
      <p:sp>
        <p:nvSpPr>
          <p:cNvPr id="4" name="Footer Placeholder 3">
            <a:extLst>
              <a:ext uri="{FF2B5EF4-FFF2-40B4-BE49-F238E27FC236}">
                <a16:creationId xmlns:a16="http://schemas.microsoft.com/office/drawing/2014/main" id="{11EB3DD1-2143-723E-138B-B167BB8E9E07}"/>
              </a:ext>
            </a:extLst>
          </p:cNvPr>
          <p:cNvSpPr>
            <a:spLocks noGrp="1"/>
          </p:cNvSpPr>
          <p:nvPr>
            <p:ph type="ftr" sz="quarter" idx="11"/>
          </p:nvPr>
        </p:nvSpPr>
        <p:spPr>
          <a:xfrm>
            <a:off x="2514600" y="6308725"/>
            <a:ext cx="4114800" cy="365125"/>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B5780B02-5C23-EBDC-CC33-E7DEB94883E6}"/>
              </a:ext>
            </a:extLst>
          </p:cNvPr>
          <p:cNvSpPr>
            <a:spLocks noGrp="1"/>
          </p:cNvSpPr>
          <p:nvPr>
            <p:ph type="dt" sz="half" idx="10"/>
          </p:nvPr>
        </p:nvSpPr>
        <p:spPr/>
        <p:txBody>
          <a:bodyPr/>
          <a:lstStyle/>
          <a:p>
            <a:fld id="{150F379C-FA9F-4D58-A3EA-AF49E366752B}" type="datetime1">
              <a:rPr lang="en-US" smtClean="0"/>
              <a:t>5/12/2024</a:t>
            </a:fld>
            <a:endParaRPr lang="en-US"/>
          </a:p>
        </p:txBody>
      </p:sp>
      <p:sp>
        <p:nvSpPr>
          <p:cNvPr id="6" name="Slide Number Placeholder 5">
            <a:extLst>
              <a:ext uri="{FF2B5EF4-FFF2-40B4-BE49-F238E27FC236}">
                <a16:creationId xmlns:a16="http://schemas.microsoft.com/office/drawing/2014/main" id="{3E577E4E-C870-9ABE-AF8C-2C7A08E1D24C}"/>
              </a:ext>
            </a:extLst>
          </p:cNvPr>
          <p:cNvSpPr>
            <a:spLocks noGrp="1"/>
          </p:cNvSpPr>
          <p:nvPr>
            <p:ph type="sldNum" sz="quarter" idx="12"/>
          </p:nvPr>
        </p:nvSpPr>
        <p:spPr/>
        <p:txBody>
          <a:bodyPr/>
          <a:lstStyle/>
          <a:p>
            <a:fld id="{BECDEB80-DBCE-406A-80BF-FEBEE692EE79}" type="slidenum">
              <a:rPr lang="en-US" smtClean="0"/>
              <a:t>4</a:t>
            </a:fld>
            <a:endParaRPr lang="en-US"/>
          </a:p>
        </p:txBody>
      </p:sp>
    </p:spTree>
    <p:extLst>
      <p:ext uri="{BB962C8B-B14F-4D97-AF65-F5344CB8AC3E}">
        <p14:creationId xmlns:p14="http://schemas.microsoft.com/office/powerpoint/2010/main" val="179691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13C5-35C8-DD13-0169-F08568FB1DF9}"/>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3D796DD2-E023-A768-5C91-3614BF6A8691}"/>
              </a:ext>
            </a:extLst>
          </p:cNvPr>
          <p:cNvSpPr>
            <a:spLocks noGrp="1"/>
          </p:cNvSpPr>
          <p:nvPr>
            <p:ph idx="1"/>
          </p:nvPr>
        </p:nvSpPr>
        <p:spPr>
          <a:xfrm>
            <a:off x="457200" y="1646237"/>
            <a:ext cx="8229600" cy="4525963"/>
          </a:xfrm>
        </p:spPr>
        <p:txBody>
          <a:bodyPr>
            <a:normAutofit fontScale="92500" lnSpcReduction="10000"/>
          </a:bodyPr>
          <a:lstStyle/>
          <a:p>
            <a:pPr algn="just"/>
            <a:r>
              <a:rPr lang="en-GB" sz="1800" dirty="0"/>
              <a:t>Urinary tract cancer poses significant challenges within oncology, encompassing a wide range of lesions from benign to potentially fatal neoplasms. </a:t>
            </a:r>
          </a:p>
          <a:p>
            <a:pPr algn="just"/>
            <a:r>
              <a:rPr lang="en-GB" sz="1800" dirty="0"/>
              <a:t>In 2021, there were approximately </a:t>
            </a:r>
            <a:r>
              <a:rPr lang="en-GB" sz="1800" b="1" dirty="0"/>
              <a:t>164,000 </a:t>
            </a:r>
            <a:r>
              <a:rPr lang="en-GB" sz="1800" dirty="0"/>
              <a:t>reported cases worldwide, solidifying its position among the top 10 most frequently diagnosed malignancies. </a:t>
            </a:r>
          </a:p>
          <a:p>
            <a:pPr algn="just"/>
            <a:r>
              <a:rPr lang="en-GB" sz="1800" dirty="0"/>
              <a:t>Muscle Invasive Bladder Cancer (MIBC), an aggressive subtype originating from the bladder's inner lining, is particularly concerning due to its high propensity for metastasis, in contrast to the relatively less invasive Non-Muscle Invasive Bladder Cancer (NMIBC). </a:t>
            </a:r>
          </a:p>
          <a:p>
            <a:pPr algn="just"/>
            <a:r>
              <a:rPr lang="en-GB" sz="1800" dirty="0"/>
              <a:t>Diagnosis typically begins with cystoscopy, enabling direct visualization of the bladder's internal surface to detect abnormalities. </a:t>
            </a:r>
          </a:p>
          <a:p>
            <a:pPr algn="just"/>
            <a:r>
              <a:rPr lang="en-GB" sz="1800" dirty="0"/>
              <a:t>Subsequently, patients with suspicious tissue undergo Trans-Urethral Resection of the Bladder </a:t>
            </a:r>
            <a:r>
              <a:rPr lang="en-GB" sz="1800" dirty="0" err="1"/>
              <a:t>Tumor</a:t>
            </a:r>
            <a:r>
              <a:rPr lang="en-GB" sz="1800" dirty="0"/>
              <a:t> (TURBT), a pivotal surgical intervention involving endoscopic excision of visible </a:t>
            </a:r>
            <a:r>
              <a:rPr lang="en-GB" sz="1800" dirty="0" err="1"/>
              <a:t>tumor</a:t>
            </a:r>
            <a:r>
              <a:rPr lang="en-GB" sz="1800" dirty="0"/>
              <a:t> lesions. TURBT not only confirms BC diagnosis but also determines disease extent and guides treatment decisions.</a:t>
            </a:r>
          </a:p>
          <a:p>
            <a:pPr algn="just"/>
            <a:r>
              <a:rPr lang="en-GB" sz="1800" dirty="0"/>
              <a:t> Given the critical importance of accurate tissue classification during TURBT, there is an urgent need for </a:t>
            </a:r>
            <a:r>
              <a:rPr lang="en-GB" sz="1800" b="1" dirty="0"/>
              <a:t>advanced diagnostic tools</a:t>
            </a:r>
            <a:r>
              <a:rPr lang="en-GB" sz="1800" dirty="0"/>
              <a:t> and methodologies to </a:t>
            </a:r>
            <a:r>
              <a:rPr lang="en-GB" sz="1800" b="1" dirty="0"/>
              <a:t>improve the precision and efficiency </a:t>
            </a:r>
            <a:r>
              <a:rPr lang="en-GB" sz="1800" dirty="0"/>
              <a:t>of bladder cancer diagnosis and management.</a:t>
            </a:r>
            <a:endParaRPr lang="en-IN" sz="1800" dirty="0"/>
          </a:p>
        </p:txBody>
      </p:sp>
      <p:sp>
        <p:nvSpPr>
          <p:cNvPr id="4" name="Footer Placeholder 3">
            <a:extLst>
              <a:ext uri="{FF2B5EF4-FFF2-40B4-BE49-F238E27FC236}">
                <a16:creationId xmlns:a16="http://schemas.microsoft.com/office/drawing/2014/main" id="{4C76CB56-4FFD-0343-7F71-2F7508171601}"/>
              </a:ext>
            </a:extLst>
          </p:cNvPr>
          <p:cNvSpPr>
            <a:spLocks noGrp="1"/>
          </p:cNvSpPr>
          <p:nvPr>
            <p:ph type="ftr" sz="quarter" idx="11"/>
          </p:nvPr>
        </p:nvSpPr>
        <p:spPr>
          <a:xfrm>
            <a:off x="2628900" y="6400799"/>
            <a:ext cx="3886200" cy="365125"/>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474047F9-1C50-C721-7263-EA36383D162C}"/>
              </a:ext>
            </a:extLst>
          </p:cNvPr>
          <p:cNvSpPr>
            <a:spLocks noGrp="1"/>
          </p:cNvSpPr>
          <p:nvPr>
            <p:ph type="dt" sz="half" idx="10"/>
          </p:nvPr>
        </p:nvSpPr>
        <p:spPr/>
        <p:txBody>
          <a:bodyPr/>
          <a:lstStyle/>
          <a:p>
            <a:fld id="{FDCDC5DF-3ED2-4B44-B9A2-FF9764A4C3A2}" type="datetime1">
              <a:rPr lang="en-US" smtClean="0"/>
              <a:t>5/12/2024</a:t>
            </a:fld>
            <a:endParaRPr lang="en-US"/>
          </a:p>
        </p:txBody>
      </p:sp>
      <p:sp>
        <p:nvSpPr>
          <p:cNvPr id="6" name="Slide Number Placeholder 5">
            <a:extLst>
              <a:ext uri="{FF2B5EF4-FFF2-40B4-BE49-F238E27FC236}">
                <a16:creationId xmlns:a16="http://schemas.microsoft.com/office/drawing/2014/main" id="{6B1BD046-A81C-D0AF-41D1-6A4C43979F12}"/>
              </a:ext>
            </a:extLst>
          </p:cNvPr>
          <p:cNvSpPr>
            <a:spLocks noGrp="1"/>
          </p:cNvSpPr>
          <p:nvPr>
            <p:ph type="sldNum" sz="quarter" idx="12"/>
          </p:nvPr>
        </p:nvSpPr>
        <p:spPr/>
        <p:txBody>
          <a:bodyPr/>
          <a:lstStyle/>
          <a:p>
            <a:fld id="{BECDEB80-DBCE-406A-80BF-FEBEE692EE79}" type="slidenum">
              <a:rPr lang="en-US" smtClean="0"/>
              <a:t>5</a:t>
            </a:fld>
            <a:endParaRPr lang="en-US"/>
          </a:p>
        </p:txBody>
      </p:sp>
    </p:spTree>
    <p:extLst>
      <p:ext uri="{BB962C8B-B14F-4D97-AF65-F5344CB8AC3E}">
        <p14:creationId xmlns:p14="http://schemas.microsoft.com/office/powerpoint/2010/main" val="402504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4BFA-EF7A-2726-E18D-8EC26A5041F7}"/>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8FEB1930-5961-06BA-9BF9-0FC3F96FA322}"/>
              </a:ext>
            </a:extLst>
          </p:cNvPr>
          <p:cNvSpPr>
            <a:spLocks noGrp="1"/>
          </p:cNvSpPr>
          <p:nvPr>
            <p:ph type="ftr" sz="quarter" idx="11"/>
          </p:nvPr>
        </p:nvSpPr>
        <p:spPr>
          <a:xfrm>
            <a:off x="3124200" y="6400799"/>
            <a:ext cx="3962400" cy="365125"/>
          </a:xfrm>
        </p:spPr>
        <p:txBody>
          <a:bodyPr/>
          <a:lstStyle/>
          <a:p>
            <a:r>
              <a:rPr lang="en-US" dirty="0"/>
              <a:t>DEPARTMENT OF COMPUTER SCIENCE AND ENGINEERING </a:t>
            </a:r>
          </a:p>
        </p:txBody>
      </p:sp>
      <p:sp>
        <p:nvSpPr>
          <p:cNvPr id="3" name="Date Placeholder 2">
            <a:extLst>
              <a:ext uri="{FF2B5EF4-FFF2-40B4-BE49-F238E27FC236}">
                <a16:creationId xmlns:a16="http://schemas.microsoft.com/office/drawing/2014/main" id="{6EC51948-92C9-FE89-C441-01EF4877545E}"/>
              </a:ext>
            </a:extLst>
          </p:cNvPr>
          <p:cNvSpPr>
            <a:spLocks noGrp="1"/>
          </p:cNvSpPr>
          <p:nvPr>
            <p:ph type="dt" sz="half" idx="10"/>
          </p:nvPr>
        </p:nvSpPr>
        <p:spPr/>
        <p:txBody>
          <a:bodyPr/>
          <a:lstStyle/>
          <a:p>
            <a:fld id="{02E59D94-DC57-4E37-A024-DA5B91BAFF55}" type="datetime1">
              <a:rPr lang="en-US" smtClean="0"/>
              <a:t>5/12/2024</a:t>
            </a:fld>
            <a:endParaRPr lang="en-US"/>
          </a:p>
        </p:txBody>
      </p:sp>
      <p:sp>
        <p:nvSpPr>
          <p:cNvPr id="6" name="Slide Number Placeholder 5">
            <a:extLst>
              <a:ext uri="{FF2B5EF4-FFF2-40B4-BE49-F238E27FC236}">
                <a16:creationId xmlns:a16="http://schemas.microsoft.com/office/drawing/2014/main" id="{A1F33DEB-5014-8308-7833-162F72E60A67}"/>
              </a:ext>
            </a:extLst>
          </p:cNvPr>
          <p:cNvSpPr>
            <a:spLocks noGrp="1"/>
          </p:cNvSpPr>
          <p:nvPr>
            <p:ph type="sldNum" sz="quarter" idx="12"/>
          </p:nvPr>
        </p:nvSpPr>
        <p:spPr/>
        <p:txBody>
          <a:bodyPr/>
          <a:lstStyle/>
          <a:p>
            <a:fld id="{BECDEB80-DBCE-406A-80BF-FEBEE692EE79}" type="slidenum">
              <a:rPr lang="en-US" smtClean="0"/>
              <a:t>6</a:t>
            </a:fld>
            <a:endParaRPr lang="en-US"/>
          </a:p>
        </p:txBody>
      </p:sp>
      <p:graphicFrame>
        <p:nvGraphicFramePr>
          <p:cNvPr id="11" name="Table 10">
            <a:extLst>
              <a:ext uri="{FF2B5EF4-FFF2-40B4-BE49-F238E27FC236}">
                <a16:creationId xmlns:a16="http://schemas.microsoft.com/office/drawing/2014/main" id="{1129B6F6-3B2B-B766-F7C9-334B4DC12E39}"/>
              </a:ext>
            </a:extLst>
          </p:cNvPr>
          <p:cNvGraphicFramePr>
            <a:graphicFrameLocks noGrp="1"/>
          </p:cNvGraphicFramePr>
          <p:nvPr/>
        </p:nvGraphicFramePr>
        <p:xfrm>
          <a:off x="457200" y="1600200"/>
          <a:ext cx="8229600" cy="4601327"/>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187796255"/>
                    </a:ext>
                  </a:extLst>
                </a:gridCol>
                <a:gridCol w="1645920">
                  <a:extLst>
                    <a:ext uri="{9D8B030D-6E8A-4147-A177-3AD203B41FA5}">
                      <a16:colId xmlns:a16="http://schemas.microsoft.com/office/drawing/2014/main" val="2723879910"/>
                    </a:ext>
                  </a:extLst>
                </a:gridCol>
                <a:gridCol w="1645920">
                  <a:extLst>
                    <a:ext uri="{9D8B030D-6E8A-4147-A177-3AD203B41FA5}">
                      <a16:colId xmlns:a16="http://schemas.microsoft.com/office/drawing/2014/main" val="1878035266"/>
                    </a:ext>
                  </a:extLst>
                </a:gridCol>
                <a:gridCol w="1645920">
                  <a:extLst>
                    <a:ext uri="{9D8B030D-6E8A-4147-A177-3AD203B41FA5}">
                      <a16:colId xmlns:a16="http://schemas.microsoft.com/office/drawing/2014/main" val="1670290982"/>
                    </a:ext>
                  </a:extLst>
                </a:gridCol>
                <a:gridCol w="1645920">
                  <a:extLst>
                    <a:ext uri="{9D8B030D-6E8A-4147-A177-3AD203B41FA5}">
                      <a16:colId xmlns:a16="http://schemas.microsoft.com/office/drawing/2014/main" val="855084146"/>
                    </a:ext>
                  </a:extLst>
                </a:gridCol>
              </a:tblGrid>
              <a:tr h="370840">
                <a:tc>
                  <a:txBody>
                    <a:bodyPr/>
                    <a:lstStyle/>
                    <a:p>
                      <a:r>
                        <a:rPr lang="en-IN" dirty="0" err="1"/>
                        <a:t>S.No</a:t>
                      </a:r>
                      <a:r>
                        <a:rPr lang="en-IN" dirty="0"/>
                        <a:t>.</a:t>
                      </a:r>
                    </a:p>
                  </a:txBody>
                  <a:tcPr/>
                </a:tc>
                <a:tc>
                  <a:txBody>
                    <a:bodyPr/>
                    <a:lstStyle/>
                    <a:p>
                      <a:r>
                        <a:rPr lang="en-IN" dirty="0"/>
                        <a:t>Title of the Paper</a:t>
                      </a:r>
                    </a:p>
                  </a:txBody>
                  <a:tcPr/>
                </a:tc>
                <a:tc>
                  <a:txBody>
                    <a:bodyPr/>
                    <a:lstStyle/>
                    <a:p>
                      <a:r>
                        <a:rPr lang="en-IN" dirty="0"/>
                        <a:t>Year</a:t>
                      </a:r>
                    </a:p>
                  </a:txBody>
                  <a:tcPr/>
                </a:tc>
                <a:tc>
                  <a:txBody>
                    <a:bodyPr/>
                    <a:lstStyle/>
                    <a:p>
                      <a:r>
                        <a:rPr lang="en-IN" dirty="0"/>
                        <a:t>Journal/Conference Name</a:t>
                      </a:r>
                    </a:p>
                  </a:txBody>
                  <a:tcPr/>
                </a:tc>
                <a:tc>
                  <a:txBody>
                    <a:bodyPr/>
                    <a:lstStyle/>
                    <a:p>
                      <a:r>
                        <a:rPr lang="en-IN" dirty="0"/>
                        <a:t>Inferences</a:t>
                      </a:r>
                    </a:p>
                  </a:txBody>
                  <a:tcPr/>
                </a:tc>
                <a:extLst>
                  <a:ext uri="{0D108BD9-81ED-4DB2-BD59-A6C34878D82A}">
                    <a16:rowId xmlns:a16="http://schemas.microsoft.com/office/drawing/2014/main" val="559887063"/>
                  </a:ext>
                </a:extLst>
              </a:tr>
              <a:tr h="370840">
                <a:tc>
                  <a:txBody>
                    <a:bodyPr/>
                    <a:lstStyle/>
                    <a:p>
                      <a:pPr algn="just">
                        <a:lnSpc>
                          <a:spcPct val="107000"/>
                        </a:lnSpc>
                        <a:spcAft>
                          <a:spcPts val="800"/>
                        </a:spcAft>
                      </a:pPr>
                      <a:r>
                        <a:rPr lang="en-IN" sz="1000" dirty="0">
                          <a:effectLst/>
                        </a:rPr>
                        <a:t>1</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000">
                          <a:effectLst/>
                        </a:rPr>
                        <a:t>2020</a:t>
                      </a:r>
                      <a:endParaRPr lang="en-IN" sz="105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dirty="0">
                          <a:effectLst/>
                        </a:rPr>
                        <a:t>Urinary tract infections: microbial pathogenesis, host–pathogen interactions and new treatment strategies</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a:effectLst/>
                        </a:rPr>
                        <a:t>R. D. Klein and S. J. Hultgren</a:t>
                      </a:r>
                      <a:endParaRPr lang="en-IN" sz="105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050">
                          <a:effectLst/>
                        </a:rPr>
                        <a:t>Misdiagnosis and inappropriate treatment</a:t>
                      </a:r>
                      <a:endParaRPr lang="en-IN" sz="1050">
                        <a:effectLst/>
                        <a:latin typeface="Calibri" panose="020F0502020204030204" pitchFamily="34" charset="0"/>
                        <a:ea typeface="Calibri" panose="020F0502020204030204" pitchFamily="34" charset="0"/>
                      </a:endParaRPr>
                    </a:p>
                  </a:txBody>
                  <a:tcPr marL="64493" marR="64493" marT="0" marB="0"/>
                </a:tc>
                <a:extLst>
                  <a:ext uri="{0D108BD9-81ED-4DB2-BD59-A6C34878D82A}">
                    <a16:rowId xmlns:a16="http://schemas.microsoft.com/office/drawing/2014/main" val="3833057532"/>
                  </a:ext>
                </a:extLst>
              </a:tr>
              <a:tr h="370840">
                <a:tc>
                  <a:txBody>
                    <a:bodyPr/>
                    <a:lstStyle/>
                    <a:p>
                      <a:pPr algn="just">
                        <a:lnSpc>
                          <a:spcPct val="107000"/>
                        </a:lnSpc>
                        <a:spcAft>
                          <a:spcPts val="800"/>
                        </a:spcAft>
                      </a:pPr>
                      <a:r>
                        <a:rPr lang="en-IN" sz="1000" dirty="0">
                          <a:effectLst/>
                        </a:rPr>
                        <a:t>2</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000" dirty="0">
                          <a:effectLst/>
                        </a:rPr>
                        <a:t>2021</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a:effectLst/>
                        </a:rPr>
                        <a:t>Sociodemographic factors and uncomplicated cystitis in women aged 15–50 years: a nationwide Swedish cohort registry study .</a:t>
                      </a:r>
                      <a:endParaRPr lang="en-IN" sz="105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a:effectLst/>
                        </a:rPr>
                        <a:t>F. Jansåker, X. Li, and K. Sundquist</a:t>
                      </a:r>
                      <a:endParaRPr lang="en-IN" sz="105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000" dirty="0">
                          <a:effectLst/>
                        </a:rPr>
                        <a:t>More Challenging and sometimes ineffective.</a:t>
                      </a:r>
                      <a:endParaRPr lang="en-IN" sz="1050" dirty="0">
                        <a:effectLst/>
                        <a:latin typeface="Calibri" panose="020F0502020204030204" pitchFamily="34" charset="0"/>
                        <a:ea typeface="Calibri" panose="020F0502020204030204" pitchFamily="34" charset="0"/>
                      </a:endParaRPr>
                    </a:p>
                  </a:txBody>
                  <a:tcPr marL="64493" marR="64493" marT="0" marB="0"/>
                </a:tc>
                <a:extLst>
                  <a:ext uri="{0D108BD9-81ED-4DB2-BD59-A6C34878D82A}">
                    <a16:rowId xmlns:a16="http://schemas.microsoft.com/office/drawing/2014/main" val="4215943975"/>
                  </a:ext>
                </a:extLst>
              </a:tr>
              <a:tr h="370840">
                <a:tc>
                  <a:txBody>
                    <a:bodyPr/>
                    <a:lstStyle/>
                    <a:p>
                      <a:pPr algn="just">
                        <a:lnSpc>
                          <a:spcPct val="107000"/>
                        </a:lnSpc>
                        <a:spcAft>
                          <a:spcPts val="800"/>
                        </a:spcAft>
                      </a:pPr>
                      <a:r>
                        <a:rPr lang="en-IN" sz="1000" dirty="0">
                          <a:effectLst/>
                        </a:rPr>
                        <a:t>3</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000" dirty="0">
                          <a:effectLst/>
                        </a:rPr>
                        <a:t>2019</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dirty="0">
                          <a:effectLst/>
                        </a:rPr>
                        <a:t>Using artificial intelligence to reduce diagnostic workload without compromising detection of urinary tract infections</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dirty="0">
                          <a:effectLst/>
                        </a:rPr>
                        <a:t>R. J. Burton, M. </a:t>
                      </a:r>
                      <a:r>
                        <a:rPr lang="en-IN" sz="1200" dirty="0" err="1">
                          <a:effectLst/>
                        </a:rPr>
                        <a:t>Albur</a:t>
                      </a:r>
                      <a:r>
                        <a:rPr lang="en-IN" sz="1200" dirty="0">
                          <a:effectLst/>
                        </a:rPr>
                        <a:t>, M. </a:t>
                      </a:r>
                      <a:r>
                        <a:rPr lang="en-IN" sz="1200" dirty="0" err="1">
                          <a:effectLst/>
                        </a:rPr>
                        <a:t>Eberl</a:t>
                      </a:r>
                      <a:r>
                        <a:rPr lang="en-IN" sz="1200" dirty="0">
                          <a:effectLst/>
                        </a:rPr>
                        <a:t>, and S. M. Cuff</a:t>
                      </a:r>
                      <a:endParaRPr lang="en-IN" sz="1050" dirty="0">
                        <a:effectLst/>
                        <a:latin typeface="Calibri" panose="020F0502020204030204" pitchFamily="34" charset="0"/>
                        <a:ea typeface="Calibri" panose="020F0502020204030204" pitchFamily="34" charset="0"/>
                      </a:endParaRPr>
                    </a:p>
                  </a:txBody>
                  <a:tcPr marL="89573" marR="89573" marT="44787" marB="44787"/>
                </a:tc>
                <a:tc>
                  <a:txBody>
                    <a:bodyPr/>
                    <a:lstStyle/>
                    <a:p>
                      <a:pPr algn="just">
                        <a:lnSpc>
                          <a:spcPct val="107000"/>
                        </a:lnSpc>
                        <a:spcAft>
                          <a:spcPts val="800"/>
                        </a:spcAft>
                      </a:pPr>
                      <a:r>
                        <a:rPr lang="en-IN" sz="1000" dirty="0">
                          <a:effectLst/>
                        </a:rPr>
                        <a:t>Reduce of effectiveness when deployed</a:t>
                      </a:r>
                      <a:endParaRPr lang="en-IN" sz="1050" dirty="0">
                        <a:effectLst/>
                        <a:latin typeface="Calibri" panose="020F0502020204030204" pitchFamily="34" charset="0"/>
                        <a:ea typeface="Calibri" panose="020F0502020204030204" pitchFamily="34" charset="0"/>
                      </a:endParaRPr>
                    </a:p>
                  </a:txBody>
                  <a:tcPr marL="64493" marR="64493" marT="0" marB="0"/>
                </a:tc>
                <a:extLst>
                  <a:ext uri="{0D108BD9-81ED-4DB2-BD59-A6C34878D82A}">
                    <a16:rowId xmlns:a16="http://schemas.microsoft.com/office/drawing/2014/main" val="3607828677"/>
                  </a:ext>
                </a:extLst>
              </a:tr>
            </a:tbl>
          </a:graphicData>
        </a:graphic>
      </p:graphicFrame>
    </p:spTree>
    <p:extLst>
      <p:ext uri="{BB962C8B-B14F-4D97-AF65-F5344CB8AC3E}">
        <p14:creationId xmlns:p14="http://schemas.microsoft.com/office/powerpoint/2010/main" val="753461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4BFA-EF7A-2726-E18D-8EC26A5041F7}"/>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8FEB1930-5961-06BA-9BF9-0FC3F96FA322}"/>
              </a:ext>
            </a:extLst>
          </p:cNvPr>
          <p:cNvSpPr>
            <a:spLocks noGrp="1"/>
          </p:cNvSpPr>
          <p:nvPr>
            <p:ph type="ftr" sz="quarter" idx="11"/>
          </p:nvPr>
        </p:nvSpPr>
        <p:spPr>
          <a:xfrm>
            <a:off x="3124200" y="6400799"/>
            <a:ext cx="3962400" cy="365125"/>
          </a:xfrm>
        </p:spPr>
        <p:txBody>
          <a:bodyPr/>
          <a:lstStyle/>
          <a:p>
            <a:r>
              <a:rPr lang="en-US" dirty="0"/>
              <a:t>DEPARTMENT OF COMPUTER SCIENCE AND ENGINEERING </a:t>
            </a:r>
          </a:p>
        </p:txBody>
      </p:sp>
      <p:sp>
        <p:nvSpPr>
          <p:cNvPr id="3" name="Date Placeholder 2">
            <a:extLst>
              <a:ext uri="{FF2B5EF4-FFF2-40B4-BE49-F238E27FC236}">
                <a16:creationId xmlns:a16="http://schemas.microsoft.com/office/drawing/2014/main" id="{6EC51948-92C9-FE89-C441-01EF4877545E}"/>
              </a:ext>
            </a:extLst>
          </p:cNvPr>
          <p:cNvSpPr>
            <a:spLocks noGrp="1"/>
          </p:cNvSpPr>
          <p:nvPr>
            <p:ph type="dt" sz="half" idx="10"/>
          </p:nvPr>
        </p:nvSpPr>
        <p:spPr/>
        <p:txBody>
          <a:bodyPr/>
          <a:lstStyle/>
          <a:p>
            <a:fld id="{3B87BC63-6223-45BF-A535-E332F9523238}" type="datetime1">
              <a:rPr lang="en-US" smtClean="0"/>
              <a:t>5/12/2024</a:t>
            </a:fld>
            <a:endParaRPr lang="en-US"/>
          </a:p>
        </p:txBody>
      </p:sp>
      <p:sp>
        <p:nvSpPr>
          <p:cNvPr id="6" name="Slide Number Placeholder 5">
            <a:extLst>
              <a:ext uri="{FF2B5EF4-FFF2-40B4-BE49-F238E27FC236}">
                <a16:creationId xmlns:a16="http://schemas.microsoft.com/office/drawing/2014/main" id="{A1F33DEB-5014-8308-7833-162F72E60A67}"/>
              </a:ext>
            </a:extLst>
          </p:cNvPr>
          <p:cNvSpPr>
            <a:spLocks noGrp="1"/>
          </p:cNvSpPr>
          <p:nvPr>
            <p:ph type="sldNum" sz="quarter" idx="12"/>
          </p:nvPr>
        </p:nvSpPr>
        <p:spPr/>
        <p:txBody>
          <a:bodyPr/>
          <a:lstStyle/>
          <a:p>
            <a:fld id="{BECDEB80-DBCE-406A-80BF-FEBEE692EE79}" type="slidenum">
              <a:rPr lang="en-US" smtClean="0"/>
              <a:t>7</a:t>
            </a:fld>
            <a:endParaRPr lang="en-US"/>
          </a:p>
        </p:txBody>
      </p:sp>
      <p:graphicFrame>
        <p:nvGraphicFramePr>
          <p:cNvPr id="11" name="Table 10">
            <a:extLst>
              <a:ext uri="{FF2B5EF4-FFF2-40B4-BE49-F238E27FC236}">
                <a16:creationId xmlns:a16="http://schemas.microsoft.com/office/drawing/2014/main" id="{1129B6F6-3B2B-B766-F7C9-334B4DC12E39}"/>
              </a:ext>
            </a:extLst>
          </p:cNvPr>
          <p:cNvGraphicFramePr>
            <a:graphicFrameLocks noGrp="1"/>
          </p:cNvGraphicFramePr>
          <p:nvPr/>
        </p:nvGraphicFramePr>
        <p:xfrm>
          <a:off x="457200" y="1417638"/>
          <a:ext cx="8229600" cy="2669452"/>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187796255"/>
                    </a:ext>
                  </a:extLst>
                </a:gridCol>
                <a:gridCol w="2362200">
                  <a:extLst>
                    <a:ext uri="{9D8B030D-6E8A-4147-A177-3AD203B41FA5}">
                      <a16:colId xmlns:a16="http://schemas.microsoft.com/office/drawing/2014/main" val="2723879910"/>
                    </a:ext>
                  </a:extLst>
                </a:gridCol>
                <a:gridCol w="609600">
                  <a:extLst>
                    <a:ext uri="{9D8B030D-6E8A-4147-A177-3AD203B41FA5}">
                      <a16:colId xmlns:a16="http://schemas.microsoft.com/office/drawing/2014/main" val="1878035266"/>
                    </a:ext>
                  </a:extLst>
                </a:gridCol>
                <a:gridCol w="1524000">
                  <a:extLst>
                    <a:ext uri="{9D8B030D-6E8A-4147-A177-3AD203B41FA5}">
                      <a16:colId xmlns:a16="http://schemas.microsoft.com/office/drawing/2014/main" val="1670290982"/>
                    </a:ext>
                  </a:extLst>
                </a:gridCol>
                <a:gridCol w="3048000">
                  <a:extLst>
                    <a:ext uri="{9D8B030D-6E8A-4147-A177-3AD203B41FA5}">
                      <a16:colId xmlns:a16="http://schemas.microsoft.com/office/drawing/2014/main" val="855084146"/>
                    </a:ext>
                  </a:extLst>
                </a:gridCol>
              </a:tblGrid>
              <a:tr h="600897">
                <a:tc>
                  <a:txBody>
                    <a:bodyPr/>
                    <a:lstStyle/>
                    <a:p>
                      <a:r>
                        <a:rPr lang="en-IN" dirty="0" err="1"/>
                        <a:t>S.No</a:t>
                      </a:r>
                      <a:r>
                        <a:rPr lang="en-IN" dirty="0"/>
                        <a:t>.</a:t>
                      </a:r>
                    </a:p>
                  </a:txBody>
                  <a:tcPr/>
                </a:tc>
                <a:tc>
                  <a:txBody>
                    <a:bodyPr/>
                    <a:lstStyle/>
                    <a:p>
                      <a:r>
                        <a:rPr lang="en-IN" dirty="0"/>
                        <a:t>Title of the Paper</a:t>
                      </a:r>
                    </a:p>
                  </a:txBody>
                  <a:tcPr/>
                </a:tc>
                <a:tc>
                  <a:txBody>
                    <a:bodyPr/>
                    <a:lstStyle/>
                    <a:p>
                      <a:r>
                        <a:rPr lang="en-IN" dirty="0"/>
                        <a:t>Year</a:t>
                      </a:r>
                    </a:p>
                  </a:txBody>
                  <a:tcPr/>
                </a:tc>
                <a:tc>
                  <a:txBody>
                    <a:bodyPr/>
                    <a:lstStyle/>
                    <a:p>
                      <a:r>
                        <a:rPr lang="en-IN" dirty="0"/>
                        <a:t>Journal/Conference Name</a:t>
                      </a:r>
                    </a:p>
                  </a:txBody>
                  <a:tcPr/>
                </a:tc>
                <a:tc>
                  <a:txBody>
                    <a:bodyPr/>
                    <a:lstStyle/>
                    <a:p>
                      <a:r>
                        <a:rPr lang="en-IN" dirty="0"/>
                        <a:t>Inferences</a:t>
                      </a:r>
                    </a:p>
                  </a:txBody>
                  <a:tcPr/>
                </a:tc>
                <a:extLst>
                  <a:ext uri="{0D108BD9-81ED-4DB2-BD59-A6C34878D82A}">
                    <a16:rowId xmlns:a16="http://schemas.microsoft.com/office/drawing/2014/main" val="559887063"/>
                  </a:ext>
                </a:extLst>
              </a:tr>
              <a:tr h="994617">
                <a:tc>
                  <a:txBody>
                    <a:bodyPr/>
                    <a:lstStyle/>
                    <a:p>
                      <a:pPr algn="just">
                        <a:lnSpc>
                          <a:spcPct val="107000"/>
                        </a:lnSpc>
                        <a:spcAft>
                          <a:spcPts val="800"/>
                        </a:spcAft>
                      </a:pPr>
                      <a:r>
                        <a:rPr lang="en-IN" sz="1200" b="0" dirty="0">
                          <a:effectLst/>
                          <a:latin typeface="+mn-lt"/>
                          <a:ea typeface="Calibri" panose="020F0502020204030204" pitchFamily="34" charset="0"/>
                        </a:rPr>
                        <a:t>4</a:t>
                      </a:r>
                    </a:p>
                  </a:txBody>
                  <a:tcPr marL="89573" marR="89573" marT="44787" marB="44787"/>
                </a:tc>
                <a:tc>
                  <a:txBody>
                    <a:bodyPr/>
                    <a:lstStyle/>
                    <a:p>
                      <a:pPr marL="0" marR="0" indent="0" algn="l" defTabSz="914400" rtl="0" eaLnBrk="1" fontAlgn="auto" latinLnBrk="0" hangingPunct="1">
                        <a:lnSpc>
                          <a:spcPct val="107000"/>
                        </a:lnSpc>
                        <a:spcBef>
                          <a:spcPts val="0"/>
                        </a:spcBef>
                        <a:spcAft>
                          <a:spcPts val="800"/>
                        </a:spcAft>
                        <a:buClrTx/>
                        <a:buSzTx/>
                        <a:buFontTx/>
                        <a:buNone/>
                        <a:tabLst/>
                        <a:defRPr/>
                      </a:pPr>
                      <a:r>
                        <a:rPr lang="en-IN" sz="1200" b="0" i="0" u="none" strike="noStrike" dirty="0">
                          <a:solidFill>
                            <a:srgbClr val="000000"/>
                          </a:solidFill>
                          <a:effectLst/>
                          <a:latin typeface="+mn-lt"/>
                        </a:rPr>
                        <a:t>R. Yang et al., "Automatic recognition of bladder tumours using deep learning technology and its clinical application"</a:t>
                      </a:r>
                      <a:endParaRPr lang="en-IN" sz="1200" b="0" dirty="0">
                        <a:effectLst/>
                        <a:latin typeface="+mn-lt"/>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b="0" dirty="0">
                          <a:effectLst/>
                          <a:latin typeface="+mn-lt"/>
                          <a:ea typeface="Calibri" panose="020F0502020204030204" pitchFamily="34" charset="0"/>
                        </a:rPr>
                        <a:t>2020</a:t>
                      </a:r>
                    </a:p>
                  </a:txBody>
                  <a:tcPr marL="89573" marR="89573" marT="44787" marB="44787"/>
                </a:tc>
                <a:tc>
                  <a:txBody>
                    <a:bodyPr/>
                    <a:lstStyle/>
                    <a:p>
                      <a:pPr marL="0" marR="0" indent="0" algn="l" defTabSz="914400" rtl="0" eaLnBrk="1" fontAlgn="auto" latinLnBrk="0" hangingPunct="1">
                        <a:lnSpc>
                          <a:spcPct val="107000"/>
                        </a:lnSpc>
                        <a:spcBef>
                          <a:spcPts val="0"/>
                        </a:spcBef>
                        <a:spcAft>
                          <a:spcPts val="800"/>
                        </a:spcAft>
                        <a:buClrTx/>
                        <a:buSzTx/>
                        <a:buFontTx/>
                        <a:buNone/>
                        <a:tabLst/>
                        <a:defRPr/>
                      </a:pPr>
                      <a:r>
                        <a:rPr lang="en-IN" sz="1200" b="0" i="0" u="none" strike="noStrike" dirty="0">
                          <a:solidFill>
                            <a:srgbClr val="000000"/>
                          </a:solidFill>
                          <a:effectLst/>
                          <a:latin typeface="+mn-lt"/>
                        </a:rPr>
                        <a:t>The International Journal of Medical Robotics and Computer Assisted Surgery</a:t>
                      </a:r>
                      <a:endParaRPr lang="en-IN" sz="1200" b="0" dirty="0">
                        <a:effectLst/>
                        <a:latin typeface="+mn-lt"/>
                        <a:ea typeface="Calibri" panose="020F0502020204030204" pitchFamily="34" charset="0"/>
                      </a:endParaRPr>
                    </a:p>
                  </a:txBody>
                  <a:tcPr marL="89573" marR="89573" marT="44787" marB="44787"/>
                </a:tc>
                <a:tc>
                  <a:txBody>
                    <a:bodyPr/>
                    <a:lstStyle/>
                    <a:p>
                      <a:pPr marL="0" marR="0" indent="0" algn="just" defTabSz="914400" rtl="0" eaLnBrk="1" fontAlgn="auto" latinLnBrk="0" hangingPunct="1">
                        <a:lnSpc>
                          <a:spcPct val="107000"/>
                        </a:lnSpc>
                        <a:spcBef>
                          <a:spcPts val="0"/>
                        </a:spcBef>
                        <a:spcAft>
                          <a:spcPts val="800"/>
                        </a:spcAft>
                        <a:buClrTx/>
                        <a:buSzTx/>
                        <a:buFontTx/>
                        <a:buNone/>
                        <a:tabLst/>
                        <a:defRPr/>
                      </a:pPr>
                      <a:r>
                        <a:rPr lang="en-IN" sz="1200" b="0" i="0" u="none" strike="noStrike" dirty="0">
                          <a:solidFill>
                            <a:schemeClr val="tx1"/>
                          </a:solidFill>
                          <a:effectLst/>
                          <a:latin typeface="+mn-lt"/>
                        </a:rPr>
                        <a:t>validates the effectiveness of deep learning, particularly convolutional neural networks, in accurately identifying bladder cancer from cystoscopic images.</a:t>
                      </a:r>
                      <a:endParaRPr lang="en-IN" sz="1200" b="0" dirty="0">
                        <a:solidFill>
                          <a:schemeClr val="tx1"/>
                        </a:solidFill>
                        <a:effectLst/>
                        <a:latin typeface="+mn-lt"/>
                        <a:ea typeface="Calibri" panose="020F0502020204030204" pitchFamily="34" charset="0"/>
                      </a:endParaRPr>
                    </a:p>
                  </a:txBody>
                  <a:tcPr marL="64493" marR="64493" marT="0" marB="0"/>
                </a:tc>
                <a:extLst>
                  <a:ext uri="{0D108BD9-81ED-4DB2-BD59-A6C34878D82A}">
                    <a16:rowId xmlns:a16="http://schemas.microsoft.com/office/drawing/2014/main" val="411170986"/>
                  </a:ext>
                </a:extLst>
              </a:tr>
              <a:tr h="910526">
                <a:tc>
                  <a:txBody>
                    <a:bodyPr/>
                    <a:lstStyle/>
                    <a:p>
                      <a:pPr algn="just">
                        <a:lnSpc>
                          <a:spcPct val="107000"/>
                        </a:lnSpc>
                        <a:spcAft>
                          <a:spcPts val="800"/>
                        </a:spcAft>
                      </a:pPr>
                      <a:r>
                        <a:rPr lang="en-IN" sz="1200" b="0" dirty="0">
                          <a:effectLst/>
                          <a:latin typeface="+mn-lt"/>
                          <a:ea typeface="Calibri" panose="020F0502020204030204" pitchFamily="34" charset="0"/>
                        </a:rPr>
                        <a:t>5</a:t>
                      </a:r>
                    </a:p>
                  </a:txBody>
                  <a:tcPr marL="89573" marR="89573" marT="44787" marB="44787"/>
                </a:tc>
                <a:tc>
                  <a:txBody>
                    <a:bodyPr/>
                    <a:lstStyle/>
                    <a:p>
                      <a:pPr marL="0" marR="0" indent="0" algn="l" defTabSz="914400" rtl="0" eaLnBrk="1" fontAlgn="auto" latinLnBrk="0" hangingPunct="1">
                        <a:lnSpc>
                          <a:spcPct val="107000"/>
                        </a:lnSpc>
                        <a:spcBef>
                          <a:spcPts val="0"/>
                        </a:spcBef>
                        <a:spcAft>
                          <a:spcPts val="800"/>
                        </a:spcAft>
                        <a:buClrTx/>
                        <a:buSzTx/>
                        <a:buFontTx/>
                        <a:buNone/>
                        <a:tabLst/>
                        <a:defRPr/>
                      </a:pPr>
                      <a:r>
                        <a:rPr lang="en-IN" sz="1200" b="0" i="0" u="none" strike="noStrike" kern="1200" dirty="0">
                          <a:solidFill>
                            <a:schemeClr val="dk1"/>
                          </a:solidFill>
                          <a:effectLst/>
                          <a:latin typeface="+mn-lt"/>
                          <a:ea typeface="+mn-ea"/>
                          <a:cs typeface="+mn-cs"/>
                        </a:rPr>
                        <a:t>A. Ikeda et al., "Support system of cystoscopic diagnosis for bladder cancer based on artificial intelligence"</a:t>
                      </a:r>
                      <a:endParaRPr lang="en-IN" sz="1200" b="0" dirty="0">
                        <a:effectLst/>
                        <a:latin typeface="+mn-lt"/>
                        <a:ea typeface="Calibri" panose="020F0502020204030204" pitchFamily="34" charset="0"/>
                      </a:endParaRPr>
                    </a:p>
                  </a:txBody>
                  <a:tcPr marL="89573" marR="89573" marT="44787" marB="44787"/>
                </a:tc>
                <a:tc>
                  <a:txBody>
                    <a:bodyPr/>
                    <a:lstStyle/>
                    <a:p>
                      <a:pPr algn="just">
                        <a:lnSpc>
                          <a:spcPct val="107000"/>
                        </a:lnSpc>
                        <a:spcAft>
                          <a:spcPts val="800"/>
                        </a:spcAft>
                      </a:pPr>
                      <a:r>
                        <a:rPr lang="en-IN" sz="1200" b="0" dirty="0">
                          <a:effectLst/>
                          <a:latin typeface="+mn-lt"/>
                          <a:ea typeface="Calibri" panose="020F0502020204030204" pitchFamily="34" charset="0"/>
                        </a:rPr>
                        <a:t>2020</a:t>
                      </a:r>
                    </a:p>
                  </a:txBody>
                  <a:tcPr marL="89573" marR="89573" marT="44787" marB="44787"/>
                </a:tc>
                <a:tc>
                  <a:txBody>
                    <a:bodyPr/>
                    <a:lstStyle/>
                    <a:p>
                      <a:pPr marL="0" marR="0" indent="0" algn="l" defTabSz="914400" rtl="0" eaLnBrk="1" fontAlgn="auto" latinLnBrk="0" hangingPunct="1">
                        <a:lnSpc>
                          <a:spcPct val="107000"/>
                        </a:lnSpc>
                        <a:spcBef>
                          <a:spcPts val="0"/>
                        </a:spcBef>
                        <a:spcAft>
                          <a:spcPts val="800"/>
                        </a:spcAft>
                        <a:buClrTx/>
                        <a:buSzTx/>
                        <a:buFontTx/>
                        <a:buNone/>
                        <a:tabLst/>
                        <a:defRPr/>
                      </a:pPr>
                      <a:r>
                        <a:rPr lang="en-IN" sz="1200" b="0" i="0" u="none" strike="noStrike" kern="1200" dirty="0">
                          <a:solidFill>
                            <a:schemeClr val="dk1"/>
                          </a:solidFill>
                          <a:effectLst/>
                          <a:latin typeface="+mn-lt"/>
                          <a:ea typeface="+mn-ea"/>
                          <a:cs typeface="+mn-cs"/>
                        </a:rPr>
                        <a:t> Journal of Endourology</a:t>
                      </a:r>
                      <a:endParaRPr lang="en-IN" sz="1200" b="0" dirty="0">
                        <a:effectLst/>
                        <a:latin typeface="+mn-lt"/>
                        <a:ea typeface="Calibri" panose="020F0502020204030204" pitchFamily="34" charset="0"/>
                      </a:endParaRPr>
                    </a:p>
                  </a:txBody>
                  <a:tcPr marL="89573" marR="89573" marT="44787" marB="44787"/>
                </a:tc>
                <a:tc>
                  <a:txBody>
                    <a:bodyPr/>
                    <a:lstStyle/>
                    <a:p>
                      <a:pPr marL="0" marR="0" indent="0" algn="just" defTabSz="914400" rtl="0" eaLnBrk="1" fontAlgn="auto" latinLnBrk="0" hangingPunct="1">
                        <a:lnSpc>
                          <a:spcPct val="107000"/>
                        </a:lnSpc>
                        <a:spcBef>
                          <a:spcPts val="0"/>
                        </a:spcBef>
                        <a:spcAft>
                          <a:spcPts val="800"/>
                        </a:spcAft>
                        <a:buClrTx/>
                        <a:buSzTx/>
                        <a:buFontTx/>
                        <a:buNone/>
                        <a:tabLst/>
                        <a:defRPr/>
                      </a:pPr>
                      <a:r>
                        <a:rPr lang="en-IN" sz="1200" b="0" i="0" u="none" strike="noStrike" dirty="0">
                          <a:solidFill>
                            <a:schemeClr val="tx1"/>
                          </a:solidFill>
                          <a:effectLst/>
                          <a:latin typeface="+mn-lt"/>
                        </a:rPr>
                        <a:t>Proposes a novel approach utilizing artificial intelligence (AI) to address diagnostic challenges in bladder neoplasia detection, augmenting conventional cystoscopy with a CNN-based tumor classifier.</a:t>
                      </a:r>
                      <a:endParaRPr lang="en-IN" sz="1200" b="0" dirty="0">
                        <a:solidFill>
                          <a:schemeClr val="tx1"/>
                        </a:solidFill>
                        <a:effectLst/>
                        <a:latin typeface="+mn-lt"/>
                        <a:ea typeface="Calibri" panose="020F0502020204030204" pitchFamily="34" charset="0"/>
                      </a:endParaRPr>
                    </a:p>
                  </a:txBody>
                  <a:tcPr marL="64493" marR="64493" marT="0" marB="0"/>
                </a:tc>
                <a:extLst>
                  <a:ext uri="{0D108BD9-81ED-4DB2-BD59-A6C34878D82A}">
                    <a16:rowId xmlns:a16="http://schemas.microsoft.com/office/drawing/2014/main" val="658202691"/>
                  </a:ext>
                </a:extLst>
              </a:tr>
            </a:tbl>
          </a:graphicData>
        </a:graphic>
      </p:graphicFrame>
    </p:spTree>
    <p:extLst>
      <p:ext uri="{BB962C8B-B14F-4D97-AF65-F5344CB8AC3E}">
        <p14:creationId xmlns:p14="http://schemas.microsoft.com/office/powerpoint/2010/main" val="1415724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Objective</a:t>
            </a:r>
          </a:p>
        </p:txBody>
      </p:sp>
      <p:sp>
        <p:nvSpPr>
          <p:cNvPr id="3" name="Content Placeholder 2"/>
          <p:cNvSpPr>
            <a:spLocks noGrp="1"/>
          </p:cNvSpPr>
          <p:nvPr>
            <p:ph idx="1"/>
          </p:nvPr>
        </p:nvSpPr>
        <p:spPr>
          <a:xfrm>
            <a:off x="609600" y="990600"/>
            <a:ext cx="8229600" cy="5257800"/>
          </a:xfrm>
        </p:spPr>
        <p:txBody>
          <a:bodyPr>
            <a:noAutofit/>
          </a:bodyPr>
          <a:lstStyle/>
          <a:p>
            <a:pPr algn="just"/>
            <a:r>
              <a:rPr lang="en-GB" sz="2000" dirty="0">
                <a:latin typeface="Times New Roman" pitchFamily="18" charset="0"/>
                <a:cs typeface="Times New Roman" pitchFamily="18" charset="0"/>
              </a:rPr>
              <a:t>This project aims to develop and implement an advanced computer-aided diagnosis (CAD) system tailored specifically for the classification of Bladder Cancer (BC) during Trans-Urethral Resection of the Bladder </a:t>
            </a:r>
            <a:r>
              <a:rPr lang="en-GB" sz="2000" dirty="0" err="1">
                <a:latin typeface="Times New Roman" pitchFamily="18" charset="0"/>
                <a:cs typeface="Times New Roman" pitchFamily="18" charset="0"/>
              </a:rPr>
              <a:t>Tumor</a:t>
            </a:r>
            <a:r>
              <a:rPr lang="en-GB" sz="2000" dirty="0">
                <a:latin typeface="Times New Roman" pitchFamily="18" charset="0"/>
                <a:cs typeface="Times New Roman" pitchFamily="18" charset="0"/>
              </a:rPr>
              <a:t> (TURBT) procedures. </a:t>
            </a:r>
          </a:p>
          <a:p>
            <a:pPr algn="just"/>
            <a:r>
              <a:rPr lang="en-GB" sz="2000" dirty="0">
                <a:latin typeface="Times New Roman" pitchFamily="18" charset="0"/>
                <a:cs typeface="Times New Roman" pitchFamily="18" charset="0"/>
              </a:rPr>
              <a:t>Utilizing Deep Learning (DL) techniques, particularly ResNet50 and similar architectures, our goal is to create a robust framework capable of automatically </a:t>
            </a:r>
            <a:r>
              <a:rPr lang="en-GB" sz="2000" dirty="0" err="1">
                <a:latin typeface="Times New Roman" pitchFamily="18" charset="0"/>
                <a:cs typeface="Times New Roman" pitchFamily="18" charset="0"/>
              </a:rPr>
              <a:t>analyzing</a:t>
            </a:r>
            <a:r>
              <a:rPr lang="en-GB" sz="2000" dirty="0">
                <a:latin typeface="Times New Roman" pitchFamily="18" charset="0"/>
                <a:cs typeface="Times New Roman" pitchFamily="18" charset="0"/>
              </a:rPr>
              <a:t> endoscopic images for precise bladder tissue classification.</a:t>
            </a:r>
          </a:p>
          <a:p>
            <a:pPr algn="just"/>
            <a:r>
              <a:rPr lang="en-GB" sz="2000" dirty="0">
                <a:latin typeface="Times New Roman" pitchFamily="18" charset="0"/>
                <a:cs typeface="Times New Roman" pitchFamily="18" charset="0"/>
              </a:rPr>
              <a:t>An important aspect of this project is addressing the challenge of limited annotations available in only one image domain, whether it's White Light Imaging (WLI) or Narrow Band Imaging (NBI). </a:t>
            </a:r>
          </a:p>
          <a:p>
            <a:pPr algn="just"/>
            <a:r>
              <a:rPr lang="en-GB" sz="2000" dirty="0">
                <a:latin typeface="Times New Roman" pitchFamily="18" charset="0"/>
                <a:cs typeface="Times New Roman" pitchFamily="18" charset="0"/>
              </a:rPr>
              <a:t>By employing innovative algorithmic approaches and advanced DL methodologies like ResNet50-based classification, we aim to overcome this limitation and achieve accurate tissue classification across various imaging modalities, thereby improving diagnostic accuracy and enabling more effective patient management strategies. </a:t>
            </a:r>
          </a:p>
          <a:p>
            <a:pPr algn="just"/>
            <a:endParaRPr lang="en-US" sz="20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381000" y="6356351"/>
            <a:ext cx="8305800" cy="273049"/>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224FD6C6-320B-3921-5CBF-46F7D30B52FC}"/>
              </a:ext>
            </a:extLst>
          </p:cNvPr>
          <p:cNvSpPr>
            <a:spLocks noGrp="1"/>
          </p:cNvSpPr>
          <p:nvPr>
            <p:ph type="dt" sz="half" idx="10"/>
          </p:nvPr>
        </p:nvSpPr>
        <p:spPr/>
        <p:txBody>
          <a:bodyPr/>
          <a:lstStyle/>
          <a:p>
            <a:fld id="{1E2E942D-D99A-4E48-BF2C-894B4E6F09F9}" type="datetime1">
              <a:rPr lang="en-US" smtClean="0"/>
              <a:t>5/12/2024</a:t>
            </a:fld>
            <a:endParaRPr lang="en-US"/>
          </a:p>
        </p:txBody>
      </p:sp>
      <p:sp>
        <p:nvSpPr>
          <p:cNvPr id="6" name="Slide Number Placeholder 5">
            <a:extLst>
              <a:ext uri="{FF2B5EF4-FFF2-40B4-BE49-F238E27FC236}">
                <a16:creationId xmlns:a16="http://schemas.microsoft.com/office/drawing/2014/main" id="{B8660616-A6A6-EAAA-ACEF-C9972E3B808B}"/>
              </a:ext>
            </a:extLst>
          </p:cNvPr>
          <p:cNvSpPr>
            <a:spLocks noGrp="1"/>
          </p:cNvSpPr>
          <p:nvPr>
            <p:ph type="sldNum" sz="quarter" idx="12"/>
          </p:nvPr>
        </p:nvSpPr>
        <p:spPr/>
        <p:txBody>
          <a:bodyPr/>
          <a:lstStyle/>
          <a:p>
            <a:fld id="{BECDEB80-DBCE-406A-80BF-FEBEE692EE79}" type="slidenum">
              <a:rPr lang="en-US" smtClean="0"/>
              <a:t>8</a:t>
            </a:fld>
            <a:endParaRPr lang="en-US"/>
          </a:p>
        </p:txBody>
      </p:sp>
    </p:spTree>
    <p:extLst>
      <p:ext uri="{BB962C8B-B14F-4D97-AF65-F5344CB8AC3E}">
        <p14:creationId xmlns:p14="http://schemas.microsoft.com/office/powerpoint/2010/main" val="2638758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C633-3A56-9D1B-9BE6-6DCCF1DBB674}"/>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DF83693C-A22F-A053-BB95-398197301E1B}"/>
              </a:ext>
            </a:extLst>
          </p:cNvPr>
          <p:cNvSpPr>
            <a:spLocks noGrp="1"/>
          </p:cNvSpPr>
          <p:nvPr>
            <p:ph idx="1"/>
          </p:nvPr>
        </p:nvSpPr>
        <p:spPr/>
        <p:txBody>
          <a:bodyPr>
            <a:normAutofit fontScale="92500" lnSpcReduction="20000"/>
          </a:bodyPr>
          <a:lstStyle/>
          <a:p>
            <a:pPr algn="just"/>
            <a:r>
              <a:rPr lang="en-GB" sz="1800" dirty="0"/>
              <a:t>The visual categorization of Bladder Cancer (BC) poses significant challenges arising from the inherent intricacies of distinguishing between diverse tissue types. </a:t>
            </a:r>
          </a:p>
          <a:p>
            <a:pPr algn="just"/>
            <a:r>
              <a:rPr lang="en-GB" sz="1800" dirty="0"/>
              <a:t>One notable obstacle stems from the remarkable resemblances in the </a:t>
            </a:r>
            <a:r>
              <a:rPr lang="en-GB" sz="1800" b="1" dirty="0"/>
              <a:t>shapes </a:t>
            </a:r>
            <a:r>
              <a:rPr lang="en-GB" sz="1800" dirty="0"/>
              <a:t>of high-grade and low-grade </a:t>
            </a:r>
            <a:r>
              <a:rPr lang="en-GB" sz="1800" dirty="0" err="1"/>
              <a:t>tumor</a:t>
            </a:r>
            <a:r>
              <a:rPr lang="en-GB" sz="1800" dirty="0"/>
              <a:t> lesions, presenting a substantial hurdle to precise differentiation relying solely on visual examination. </a:t>
            </a:r>
          </a:p>
          <a:p>
            <a:pPr algn="just"/>
            <a:r>
              <a:rPr lang="en-GB" sz="1800" dirty="0"/>
              <a:t>Additionally, distinguishing between healthy tissue and non-</a:t>
            </a:r>
            <a:r>
              <a:rPr lang="en-GB" sz="1800" dirty="0" err="1"/>
              <a:t>tumor</a:t>
            </a:r>
            <a:r>
              <a:rPr lang="en-GB" sz="1800" dirty="0"/>
              <a:t> lesions introduces another layer of complexity into the diagnostic process. </a:t>
            </a:r>
          </a:p>
          <a:p>
            <a:pPr algn="just"/>
            <a:r>
              <a:rPr lang="en-GB" sz="1800" dirty="0"/>
              <a:t>While histological examination post-resection remains the benchmark for conclusive cancer diagnosis and grading, the dependence on this invasive procedure emphasizes the necessity for non-invasive imaging techniques capable of offering dependable insights into tissue pathology. </a:t>
            </a:r>
          </a:p>
          <a:p>
            <a:pPr algn="just"/>
            <a:r>
              <a:rPr lang="en-GB" sz="1800" dirty="0"/>
              <a:t>In this context, the amalgamation of cutting-edge imaging modalities such as Narrow Band Imaging (NBI) alongside traditional White Light Imaging (WLI) emerges as a promising strategy to augment </a:t>
            </a:r>
            <a:r>
              <a:rPr lang="en-GB" sz="1800" dirty="0" err="1"/>
              <a:t>tumor</a:t>
            </a:r>
            <a:r>
              <a:rPr lang="en-GB" sz="1800" dirty="0"/>
              <a:t> differentiation and enable more accurate diagnosis. </a:t>
            </a:r>
          </a:p>
          <a:p>
            <a:pPr algn="just"/>
            <a:r>
              <a:rPr lang="en-GB" sz="1800" dirty="0"/>
              <a:t>By harnessing the distinct contrast properties of NBI, medical practitioners can acquire clearer depiction of tissue morphology and vascular patterns, thereby enhancing the diagnostic precision and facilitating more informed treatment decisions. </a:t>
            </a:r>
          </a:p>
        </p:txBody>
      </p:sp>
      <p:sp>
        <p:nvSpPr>
          <p:cNvPr id="4" name="Footer Placeholder 3">
            <a:extLst>
              <a:ext uri="{FF2B5EF4-FFF2-40B4-BE49-F238E27FC236}">
                <a16:creationId xmlns:a16="http://schemas.microsoft.com/office/drawing/2014/main" id="{B5CDC233-C19C-DFC1-5F9C-0323A3364840}"/>
              </a:ext>
            </a:extLst>
          </p:cNvPr>
          <p:cNvSpPr>
            <a:spLocks noGrp="1"/>
          </p:cNvSpPr>
          <p:nvPr>
            <p:ph type="ftr" sz="quarter" idx="11"/>
          </p:nvPr>
        </p:nvSpPr>
        <p:spPr>
          <a:xfrm>
            <a:off x="2628900" y="6400799"/>
            <a:ext cx="3886200" cy="365125"/>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9B43F799-47FA-83E5-B7BB-C746B8C74D3F}"/>
              </a:ext>
            </a:extLst>
          </p:cNvPr>
          <p:cNvSpPr>
            <a:spLocks noGrp="1"/>
          </p:cNvSpPr>
          <p:nvPr>
            <p:ph type="dt" sz="half" idx="10"/>
          </p:nvPr>
        </p:nvSpPr>
        <p:spPr/>
        <p:txBody>
          <a:bodyPr/>
          <a:lstStyle/>
          <a:p>
            <a:fld id="{915D407E-4370-4FCD-9FAA-EB0C6DD4BA88}" type="datetime1">
              <a:rPr lang="en-US" smtClean="0"/>
              <a:t>5/12/2024</a:t>
            </a:fld>
            <a:endParaRPr lang="en-US"/>
          </a:p>
        </p:txBody>
      </p:sp>
      <p:sp>
        <p:nvSpPr>
          <p:cNvPr id="6" name="Slide Number Placeholder 5">
            <a:extLst>
              <a:ext uri="{FF2B5EF4-FFF2-40B4-BE49-F238E27FC236}">
                <a16:creationId xmlns:a16="http://schemas.microsoft.com/office/drawing/2014/main" id="{218CEDCA-E630-FB48-E7F6-3F91D9A44D9C}"/>
              </a:ext>
            </a:extLst>
          </p:cNvPr>
          <p:cNvSpPr>
            <a:spLocks noGrp="1"/>
          </p:cNvSpPr>
          <p:nvPr>
            <p:ph type="sldNum" sz="quarter" idx="12"/>
          </p:nvPr>
        </p:nvSpPr>
        <p:spPr/>
        <p:txBody>
          <a:bodyPr/>
          <a:lstStyle/>
          <a:p>
            <a:fld id="{BECDEB80-DBCE-406A-80BF-FEBEE692EE79}" type="slidenum">
              <a:rPr lang="en-US" smtClean="0"/>
              <a:t>9</a:t>
            </a:fld>
            <a:endParaRPr lang="en-US"/>
          </a:p>
        </p:txBody>
      </p:sp>
    </p:spTree>
    <p:extLst>
      <p:ext uri="{BB962C8B-B14F-4D97-AF65-F5344CB8AC3E}">
        <p14:creationId xmlns:p14="http://schemas.microsoft.com/office/powerpoint/2010/main" val="2138774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p:txBody>
          <a:bodyPr/>
          <a:lstStyle/>
          <a:p>
            <a:r>
              <a:rPr lang="en-IN" dirty="0"/>
              <a:t>Proposed Work</a:t>
            </a:r>
          </a:p>
        </p:txBody>
      </p:sp>
      <p:sp>
        <p:nvSpPr>
          <p:cNvPr id="3" name="Content Placeholder 2">
            <a:extLst>
              <a:ext uri="{FF2B5EF4-FFF2-40B4-BE49-F238E27FC236}">
                <a16:creationId xmlns:a16="http://schemas.microsoft.com/office/drawing/2014/main" id="{53BFFE84-2D8E-3108-1481-A48D958FE941}"/>
              </a:ext>
            </a:extLst>
          </p:cNvPr>
          <p:cNvSpPr>
            <a:spLocks noGrp="1"/>
          </p:cNvSpPr>
          <p:nvPr>
            <p:ph idx="1"/>
          </p:nvPr>
        </p:nvSpPr>
        <p:spPr/>
        <p:txBody>
          <a:bodyPr>
            <a:normAutofit/>
          </a:bodyPr>
          <a:lstStyle/>
          <a:p>
            <a:pPr algn="just"/>
            <a:r>
              <a:rPr lang="en-GB" sz="2000" dirty="0"/>
              <a:t>Our proposed system aims to tackle the intricate task of bladder tissue classification within the context of multi-domain images obtained from Trans-Urethral Resection of Bladder </a:t>
            </a:r>
            <a:r>
              <a:rPr lang="en-GB" sz="2000" dirty="0" err="1"/>
              <a:t>Tumor</a:t>
            </a:r>
            <a:r>
              <a:rPr lang="en-GB" sz="2000" dirty="0"/>
              <a:t> (TURBT) procedures. To address this challenge, we introduce a novel approach that leverages </a:t>
            </a:r>
            <a:r>
              <a:rPr lang="en-GB" sz="2000" b="1" dirty="0"/>
              <a:t>ResNet50 </a:t>
            </a:r>
            <a:r>
              <a:rPr lang="en-GB" sz="2000" dirty="0"/>
              <a:t>and similar deep learning architectures for classification tasks.</a:t>
            </a:r>
          </a:p>
          <a:p>
            <a:pPr algn="just"/>
            <a:r>
              <a:rPr lang="en-GB" sz="2000" dirty="0"/>
              <a:t>Initially, we deploy a </a:t>
            </a:r>
            <a:r>
              <a:rPr lang="en-GB" sz="2000" b="1" dirty="0"/>
              <a:t>ResNet50-based </a:t>
            </a:r>
            <a:r>
              <a:rPr lang="en-GB" sz="2000" dirty="0"/>
              <a:t>teacher network trained on annotated White Light Imaging (WLI) images to provide foundational knowledge for subsequent classification tasks. This network serves as a guiding mechanism for the learning process, leveraging the rich information encapsulated within the </a:t>
            </a:r>
            <a:r>
              <a:rPr lang="en-GB" sz="2000" b="1" dirty="0" err="1"/>
              <a:t>labeled</a:t>
            </a:r>
            <a:r>
              <a:rPr lang="en-GB" sz="2000" b="1" dirty="0"/>
              <a:t> </a:t>
            </a:r>
            <a:r>
              <a:rPr lang="en-GB" sz="2000" dirty="0"/>
              <a:t>WLI dataset. </a:t>
            </a:r>
          </a:p>
          <a:p>
            <a:pPr algn="just"/>
            <a:r>
              <a:rPr lang="en-GB" sz="2000" dirty="0"/>
              <a:t>In summary, our proposed system presents an innovative and comprehensive approach to bladder tissue classification, leveraging advanced deep learning techniques, particularly ResNet50, to address the challenges associated with multi-domain endoscopic imaging data. </a:t>
            </a:r>
          </a:p>
          <a:p>
            <a:pPr marL="0" indent="0" algn="just">
              <a:buNone/>
            </a:pPr>
            <a:endParaRPr lang="en-IN" sz="2000" dirty="0"/>
          </a:p>
        </p:txBody>
      </p:sp>
      <p:sp>
        <p:nvSpPr>
          <p:cNvPr id="4" name="Footer Placeholder 3">
            <a:extLst>
              <a:ext uri="{FF2B5EF4-FFF2-40B4-BE49-F238E27FC236}">
                <a16:creationId xmlns:a16="http://schemas.microsoft.com/office/drawing/2014/main" id="{223B7043-E43B-556A-CEF6-CBE0359A2436}"/>
              </a:ext>
            </a:extLst>
          </p:cNvPr>
          <p:cNvSpPr>
            <a:spLocks noGrp="1"/>
          </p:cNvSpPr>
          <p:nvPr>
            <p:ph type="ftr" sz="quarter" idx="11"/>
          </p:nvPr>
        </p:nvSpPr>
        <p:spPr>
          <a:xfrm>
            <a:off x="2476500" y="6308725"/>
            <a:ext cx="4191000" cy="365125"/>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38AC8824-57A9-2672-0D66-7F1F3B5EDB33}"/>
              </a:ext>
            </a:extLst>
          </p:cNvPr>
          <p:cNvSpPr>
            <a:spLocks noGrp="1"/>
          </p:cNvSpPr>
          <p:nvPr>
            <p:ph type="dt" sz="half" idx="10"/>
          </p:nvPr>
        </p:nvSpPr>
        <p:spPr/>
        <p:txBody>
          <a:bodyPr/>
          <a:lstStyle/>
          <a:p>
            <a:fld id="{EB51E684-F79E-4ACA-A162-BE881DECD59D}" type="datetime1">
              <a:rPr lang="en-US" smtClean="0"/>
              <a:t>5/12/2024</a:t>
            </a:fld>
            <a:endParaRPr lang="en-US"/>
          </a:p>
        </p:txBody>
      </p:sp>
      <p:sp>
        <p:nvSpPr>
          <p:cNvPr id="6" name="Slide Number Placeholder 5">
            <a:extLst>
              <a:ext uri="{FF2B5EF4-FFF2-40B4-BE49-F238E27FC236}">
                <a16:creationId xmlns:a16="http://schemas.microsoft.com/office/drawing/2014/main" id="{3FDF87C0-699C-4AE2-131C-3799E5AA0C88}"/>
              </a:ext>
            </a:extLst>
          </p:cNvPr>
          <p:cNvSpPr>
            <a:spLocks noGrp="1"/>
          </p:cNvSpPr>
          <p:nvPr>
            <p:ph type="sldNum" sz="quarter" idx="12"/>
          </p:nvPr>
        </p:nvSpPr>
        <p:spPr/>
        <p:txBody>
          <a:bodyPr/>
          <a:lstStyle/>
          <a:p>
            <a:fld id="{BECDEB80-DBCE-406A-80BF-FEBEE692EE79}" type="slidenum">
              <a:rPr lang="en-US" smtClean="0"/>
              <a:t>10</a:t>
            </a:fld>
            <a:endParaRPr lang="en-US"/>
          </a:p>
        </p:txBody>
      </p:sp>
    </p:spTree>
    <p:extLst>
      <p:ext uri="{BB962C8B-B14F-4D97-AF65-F5344CB8AC3E}">
        <p14:creationId xmlns:p14="http://schemas.microsoft.com/office/powerpoint/2010/main" val="501051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p:txBody>
          <a:bodyPr/>
          <a:lstStyle/>
          <a:p>
            <a:r>
              <a:rPr lang="en-IN" dirty="0"/>
              <a:t>Proposed Work</a:t>
            </a:r>
          </a:p>
        </p:txBody>
      </p:sp>
      <p:sp>
        <p:nvSpPr>
          <p:cNvPr id="3" name="Content Placeholder 2">
            <a:extLst>
              <a:ext uri="{FF2B5EF4-FFF2-40B4-BE49-F238E27FC236}">
                <a16:creationId xmlns:a16="http://schemas.microsoft.com/office/drawing/2014/main" id="{53BFFE84-2D8E-3108-1481-A48D958FE941}"/>
              </a:ext>
            </a:extLst>
          </p:cNvPr>
          <p:cNvSpPr>
            <a:spLocks noGrp="1"/>
          </p:cNvSpPr>
          <p:nvPr>
            <p:ph idx="1"/>
          </p:nvPr>
        </p:nvSpPr>
        <p:spPr/>
        <p:txBody>
          <a:bodyPr>
            <a:normAutofit/>
          </a:bodyPr>
          <a:lstStyle/>
          <a:p>
            <a:pPr algn="just"/>
            <a:r>
              <a:rPr lang="en-GB" sz="2400" b="1" dirty="0" err="1"/>
              <a:t>ResNet</a:t>
            </a:r>
            <a:r>
              <a:rPr lang="en-GB" sz="2400" b="1" dirty="0"/>
              <a:t>-Based architecture:</a:t>
            </a:r>
          </a:p>
          <a:p>
            <a:pPr lvl="1" algn="just"/>
            <a:r>
              <a:rPr lang="en-GB" sz="2400" dirty="0"/>
              <a:t>This component serves as the backbone of the architecture, leveraging the ResNet50 model </a:t>
            </a:r>
            <a:r>
              <a:rPr lang="en-GB" sz="2400" b="1" dirty="0"/>
              <a:t>pretrained </a:t>
            </a:r>
            <a:r>
              <a:rPr lang="en-GB" sz="2400" dirty="0"/>
              <a:t>on ImageNet datasets for feature extraction. By utilizing </a:t>
            </a:r>
            <a:r>
              <a:rPr lang="en-GB" sz="2400" b="1" dirty="0"/>
              <a:t>transfer learning</a:t>
            </a:r>
            <a:r>
              <a:rPr lang="en-GB" sz="2400" dirty="0"/>
              <a:t>, the feature extractor can capture high-level features from bladder images, providing rich representations for subsequent </a:t>
            </a:r>
            <a:r>
              <a:rPr lang="en-GB" sz="2400" b="1" dirty="0"/>
              <a:t>classification </a:t>
            </a:r>
            <a:r>
              <a:rPr lang="en-GB" sz="2400" dirty="0"/>
              <a:t>tasks. </a:t>
            </a:r>
          </a:p>
          <a:p>
            <a:pPr lvl="1" algn="just"/>
            <a:r>
              <a:rPr lang="en-GB" sz="2400" dirty="0"/>
              <a:t>The pretrained ResNet50 model offers a robust foundation for feature extraction, enabling the system to effectively learn discriminative features from the input images. </a:t>
            </a:r>
          </a:p>
          <a:p>
            <a:pPr algn="just"/>
            <a:endParaRPr lang="en-IN" sz="2400" dirty="0"/>
          </a:p>
        </p:txBody>
      </p:sp>
      <p:sp>
        <p:nvSpPr>
          <p:cNvPr id="4" name="Footer Placeholder 3">
            <a:extLst>
              <a:ext uri="{FF2B5EF4-FFF2-40B4-BE49-F238E27FC236}">
                <a16:creationId xmlns:a16="http://schemas.microsoft.com/office/drawing/2014/main" id="{223B7043-E43B-556A-CEF6-CBE0359A2436}"/>
              </a:ext>
            </a:extLst>
          </p:cNvPr>
          <p:cNvSpPr>
            <a:spLocks noGrp="1"/>
          </p:cNvSpPr>
          <p:nvPr>
            <p:ph type="ftr" sz="quarter" idx="11"/>
          </p:nvPr>
        </p:nvSpPr>
        <p:spPr>
          <a:xfrm>
            <a:off x="2590800" y="6400799"/>
            <a:ext cx="3962400" cy="365125"/>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A059F514-F264-2DA6-36F6-31DC720DB4F4}"/>
              </a:ext>
            </a:extLst>
          </p:cNvPr>
          <p:cNvSpPr>
            <a:spLocks noGrp="1"/>
          </p:cNvSpPr>
          <p:nvPr>
            <p:ph type="dt" sz="half" idx="10"/>
          </p:nvPr>
        </p:nvSpPr>
        <p:spPr/>
        <p:txBody>
          <a:bodyPr/>
          <a:lstStyle/>
          <a:p>
            <a:fld id="{70D2EF69-BC68-4C23-BE6E-6EF8881F778A}" type="datetime1">
              <a:rPr lang="en-US" smtClean="0"/>
              <a:t>5/12/2024</a:t>
            </a:fld>
            <a:endParaRPr lang="en-US"/>
          </a:p>
        </p:txBody>
      </p:sp>
      <p:sp>
        <p:nvSpPr>
          <p:cNvPr id="6" name="Slide Number Placeholder 5">
            <a:extLst>
              <a:ext uri="{FF2B5EF4-FFF2-40B4-BE49-F238E27FC236}">
                <a16:creationId xmlns:a16="http://schemas.microsoft.com/office/drawing/2014/main" id="{4282258E-2ED2-8449-CFE4-5A2205BE4968}"/>
              </a:ext>
            </a:extLst>
          </p:cNvPr>
          <p:cNvSpPr>
            <a:spLocks noGrp="1"/>
          </p:cNvSpPr>
          <p:nvPr>
            <p:ph type="sldNum" sz="quarter" idx="12"/>
          </p:nvPr>
        </p:nvSpPr>
        <p:spPr/>
        <p:txBody>
          <a:bodyPr/>
          <a:lstStyle/>
          <a:p>
            <a:fld id="{BECDEB80-DBCE-406A-80BF-FEBEE692EE79}" type="slidenum">
              <a:rPr lang="en-US" smtClean="0"/>
              <a:t>11</a:t>
            </a:fld>
            <a:endParaRPr lang="en-US"/>
          </a:p>
        </p:txBody>
      </p:sp>
    </p:spTree>
    <p:extLst>
      <p:ext uri="{BB962C8B-B14F-4D97-AF65-F5344CB8AC3E}">
        <p14:creationId xmlns:p14="http://schemas.microsoft.com/office/powerpoint/2010/main" val="2995490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p:txBody>
          <a:bodyPr/>
          <a:lstStyle/>
          <a:p>
            <a:r>
              <a:rPr lang="en-IN" dirty="0"/>
              <a:t>Proposed Work</a:t>
            </a:r>
          </a:p>
        </p:txBody>
      </p:sp>
      <p:sp>
        <p:nvSpPr>
          <p:cNvPr id="3" name="Content Placeholder 2">
            <a:extLst>
              <a:ext uri="{FF2B5EF4-FFF2-40B4-BE49-F238E27FC236}">
                <a16:creationId xmlns:a16="http://schemas.microsoft.com/office/drawing/2014/main" id="{53BFFE84-2D8E-3108-1481-A48D958FE941}"/>
              </a:ext>
            </a:extLst>
          </p:cNvPr>
          <p:cNvSpPr>
            <a:spLocks noGrp="1"/>
          </p:cNvSpPr>
          <p:nvPr>
            <p:ph idx="1"/>
          </p:nvPr>
        </p:nvSpPr>
        <p:spPr>
          <a:xfrm>
            <a:off x="457200" y="1600201"/>
            <a:ext cx="8229600" cy="457200"/>
          </a:xfrm>
        </p:spPr>
        <p:txBody>
          <a:bodyPr>
            <a:normAutofit/>
          </a:bodyPr>
          <a:lstStyle/>
          <a:p>
            <a:pPr algn="just"/>
            <a:r>
              <a:rPr lang="en-US" sz="2000" b="1" dirty="0"/>
              <a:t>Architecture Diagram:	</a:t>
            </a:r>
            <a:endParaRPr lang="en-IN" sz="2000" b="1" dirty="0"/>
          </a:p>
        </p:txBody>
      </p:sp>
      <p:sp>
        <p:nvSpPr>
          <p:cNvPr id="4" name="Footer Placeholder 3">
            <a:extLst>
              <a:ext uri="{FF2B5EF4-FFF2-40B4-BE49-F238E27FC236}">
                <a16:creationId xmlns:a16="http://schemas.microsoft.com/office/drawing/2014/main" id="{223B7043-E43B-556A-CEF6-CBE0359A2436}"/>
              </a:ext>
            </a:extLst>
          </p:cNvPr>
          <p:cNvSpPr>
            <a:spLocks noGrp="1"/>
          </p:cNvSpPr>
          <p:nvPr>
            <p:ph type="ftr" sz="quarter" idx="11"/>
          </p:nvPr>
        </p:nvSpPr>
        <p:spPr>
          <a:xfrm>
            <a:off x="2400300" y="6400799"/>
            <a:ext cx="4343400" cy="365125"/>
          </a:xfrm>
        </p:spPr>
        <p:txBody>
          <a:bodyPr/>
          <a:lstStyle/>
          <a:p>
            <a:r>
              <a:rPr lang="en-US" dirty="0"/>
              <a:t>DEPARTMENT OF COMPUTER SCIENCE AND ENGINEERING </a:t>
            </a:r>
          </a:p>
        </p:txBody>
      </p:sp>
      <p:pic>
        <p:nvPicPr>
          <p:cNvPr id="10" name="Picture 9">
            <a:extLst>
              <a:ext uri="{FF2B5EF4-FFF2-40B4-BE49-F238E27FC236}">
                <a16:creationId xmlns:a16="http://schemas.microsoft.com/office/drawing/2014/main" id="{1959F12E-B47C-B4F1-6AEE-1371E1249A23}"/>
              </a:ext>
            </a:extLst>
          </p:cNvPr>
          <p:cNvPicPr>
            <a:picLocks noChangeAspect="1"/>
          </p:cNvPicPr>
          <p:nvPr/>
        </p:nvPicPr>
        <p:blipFill>
          <a:blip r:embed="rId2"/>
          <a:stretch>
            <a:fillRect/>
          </a:stretch>
        </p:blipFill>
        <p:spPr>
          <a:xfrm>
            <a:off x="730392" y="2342117"/>
            <a:ext cx="7683216" cy="2915682"/>
          </a:xfrm>
          <a:prstGeom prst="rect">
            <a:avLst/>
          </a:prstGeom>
        </p:spPr>
      </p:pic>
      <p:sp>
        <p:nvSpPr>
          <p:cNvPr id="11" name="Date Placeholder 10">
            <a:extLst>
              <a:ext uri="{FF2B5EF4-FFF2-40B4-BE49-F238E27FC236}">
                <a16:creationId xmlns:a16="http://schemas.microsoft.com/office/drawing/2014/main" id="{93355314-1364-DE27-D55B-3B414A85985B}"/>
              </a:ext>
            </a:extLst>
          </p:cNvPr>
          <p:cNvSpPr>
            <a:spLocks noGrp="1"/>
          </p:cNvSpPr>
          <p:nvPr>
            <p:ph type="dt" sz="half" idx="10"/>
          </p:nvPr>
        </p:nvSpPr>
        <p:spPr/>
        <p:txBody>
          <a:bodyPr/>
          <a:lstStyle/>
          <a:p>
            <a:fld id="{1EDE438E-D084-4CC4-950E-EC101A752870}" type="datetime1">
              <a:rPr lang="en-US" smtClean="0"/>
              <a:t>5/12/2024</a:t>
            </a:fld>
            <a:endParaRPr lang="en-US"/>
          </a:p>
        </p:txBody>
      </p:sp>
      <p:sp>
        <p:nvSpPr>
          <p:cNvPr id="12" name="Slide Number Placeholder 11">
            <a:extLst>
              <a:ext uri="{FF2B5EF4-FFF2-40B4-BE49-F238E27FC236}">
                <a16:creationId xmlns:a16="http://schemas.microsoft.com/office/drawing/2014/main" id="{A8180F1A-544E-AB39-656A-9DA6421DB447}"/>
              </a:ext>
            </a:extLst>
          </p:cNvPr>
          <p:cNvSpPr>
            <a:spLocks noGrp="1"/>
          </p:cNvSpPr>
          <p:nvPr>
            <p:ph type="sldNum" sz="quarter" idx="12"/>
          </p:nvPr>
        </p:nvSpPr>
        <p:spPr/>
        <p:txBody>
          <a:bodyPr/>
          <a:lstStyle/>
          <a:p>
            <a:fld id="{BECDEB80-DBCE-406A-80BF-FEBEE692EE79}" type="slidenum">
              <a:rPr lang="en-US" smtClean="0"/>
              <a:t>12</a:t>
            </a:fld>
            <a:endParaRPr lang="en-US"/>
          </a:p>
        </p:txBody>
      </p:sp>
    </p:spTree>
    <p:extLst>
      <p:ext uri="{BB962C8B-B14F-4D97-AF65-F5344CB8AC3E}">
        <p14:creationId xmlns:p14="http://schemas.microsoft.com/office/powerpoint/2010/main" val="3824240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4676-942D-2806-14C4-6C31CB61E340}"/>
              </a:ext>
            </a:extLst>
          </p:cNvPr>
          <p:cNvSpPr>
            <a:spLocks noGrp="1"/>
          </p:cNvSpPr>
          <p:nvPr>
            <p:ph type="title"/>
          </p:nvPr>
        </p:nvSpPr>
        <p:spPr/>
        <p:txBody>
          <a:bodyPr/>
          <a:lstStyle/>
          <a:p>
            <a:r>
              <a:rPr lang="en-IN" dirty="0"/>
              <a:t>Proposed Work</a:t>
            </a:r>
          </a:p>
        </p:txBody>
      </p:sp>
      <p:sp>
        <p:nvSpPr>
          <p:cNvPr id="3" name="Content Placeholder 2">
            <a:extLst>
              <a:ext uri="{FF2B5EF4-FFF2-40B4-BE49-F238E27FC236}">
                <a16:creationId xmlns:a16="http://schemas.microsoft.com/office/drawing/2014/main" id="{53BFFE84-2D8E-3108-1481-A48D958FE941}"/>
              </a:ext>
            </a:extLst>
          </p:cNvPr>
          <p:cNvSpPr>
            <a:spLocks noGrp="1"/>
          </p:cNvSpPr>
          <p:nvPr>
            <p:ph idx="1"/>
          </p:nvPr>
        </p:nvSpPr>
        <p:spPr>
          <a:xfrm>
            <a:off x="457200" y="1600201"/>
            <a:ext cx="8229600" cy="457200"/>
          </a:xfrm>
        </p:spPr>
        <p:txBody>
          <a:bodyPr>
            <a:normAutofit/>
          </a:bodyPr>
          <a:lstStyle/>
          <a:p>
            <a:pPr algn="just"/>
            <a:r>
              <a:rPr lang="en-US" sz="2000" b="1" dirty="0"/>
              <a:t>Data Flow Diagram:	</a:t>
            </a:r>
            <a:endParaRPr lang="en-IN" sz="2000" b="1" dirty="0"/>
          </a:p>
        </p:txBody>
      </p:sp>
      <p:sp>
        <p:nvSpPr>
          <p:cNvPr id="4" name="Footer Placeholder 3">
            <a:extLst>
              <a:ext uri="{FF2B5EF4-FFF2-40B4-BE49-F238E27FC236}">
                <a16:creationId xmlns:a16="http://schemas.microsoft.com/office/drawing/2014/main" id="{223B7043-E43B-556A-CEF6-CBE0359A2436}"/>
              </a:ext>
            </a:extLst>
          </p:cNvPr>
          <p:cNvSpPr>
            <a:spLocks noGrp="1"/>
          </p:cNvSpPr>
          <p:nvPr>
            <p:ph type="ftr" sz="quarter" idx="11"/>
          </p:nvPr>
        </p:nvSpPr>
        <p:spPr/>
        <p:txBody>
          <a:bodyPr/>
          <a:lstStyle/>
          <a:p>
            <a:r>
              <a:rPr lang="en-US" dirty="0"/>
              <a:t>DEPARTMENT OF COMPUTER SCIENCE AND ENGINEERING </a:t>
            </a:r>
          </a:p>
        </p:txBody>
      </p:sp>
      <p:pic>
        <p:nvPicPr>
          <p:cNvPr id="6" name="Picture 5">
            <a:extLst>
              <a:ext uri="{FF2B5EF4-FFF2-40B4-BE49-F238E27FC236}">
                <a16:creationId xmlns:a16="http://schemas.microsoft.com/office/drawing/2014/main" id="{F1ED5410-94B0-442C-6CEB-B94BA7A7C400}"/>
              </a:ext>
            </a:extLst>
          </p:cNvPr>
          <p:cNvPicPr>
            <a:picLocks noChangeAspect="1"/>
          </p:cNvPicPr>
          <p:nvPr/>
        </p:nvPicPr>
        <p:blipFill>
          <a:blip r:embed="rId2"/>
          <a:stretch>
            <a:fillRect/>
          </a:stretch>
        </p:blipFill>
        <p:spPr>
          <a:xfrm>
            <a:off x="775225" y="2236916"/>
            <a:ext cx="7593550" cy="3703636"/>
          </a:xfrm>
          <a:prstGeom prst="rect">
            <a:avLst/>
          </a:prstGeom>
        </p:spPr>
      </p:pic>
      <p:sp>
        <p:nvSpPr>
          <p:cNvPr id="8" name="Date Placeholder 7">
            <a:extLst>
              <a:ext uri="{FF2B5EF4-FFF2-40B4-BE49-F238E27FC236}">
                <a16:creationId xmlns:a16="http://schemas.microsoft.com/office/drawing/2014/main" id="{8CD695FC-9926-DAD8-4808-E22AEFDE07AE}"/>
              </a:ext>
            </a:extLst>
          </p:cNvPr>
          <p:cNvSpPr>
            <a:spLocks noGrp="1"/>
          </p:cNvSpPr>
          <p:nvPr>
            <p:ph type="dt" sz="half" idx="10"/>
          </p:nvPr>
        </p:nvSpPr>
        <p:spPr/>
        <p:txBody>
          <a:bodyPr/>
          <a:lstStyle/>
          <a:p>
            <a:fld id="{5982B967-443C-4868-BBE7-E44BAC0491B6}" type="datetime1">
              <a:rPr lang="en-US" smtClean="0"/>
              <a:t>5/12/2024</a:t>
            </a:fld>
            <a:endParaRPr lang="en-US"/>
          </a:p>
        </p:txBody>
      </p:sp>
      <p:sp>
        <p:nvSpPr>
          <p:cNvPr id="9" name="Slide Number Placeholder 8">
            <a:extLst>
              <a:ext uri="{FF2B5EF4-FFF2-40B4-BE49-F238E27FC236}">
                <a16:creationId xmlns:a16="http://schemas.microsoft.com/office/drawing/2014/main" id="{2015CEB8-9254-EF19-8238-C2160D82CB8D}"/>
              </a:ext>
            </a:extLst>
          </p:cNvPr>
          <p:cNvSpPr>
            <a:spLocks noGrp="1"/>
          </p:cNvSpPr>
          <p:nvPr>
            <p:ph type="sldNum" sz="quarter" idx="12"/>
          </p:nvPr>
        </p:nvSpPr>
        <p:spPr/>
        <p:txBody>
          <a:bodyPr/>
          <a:lstStyle/>
          <a:p>
            <a:fld id="{BECDEB80-DBCE-406A-80BF-FEBEE692EE79}" type="slidenum">
              <a:rPr lang="en-US" smtClean="0"/>
              <a:t>13</a:t>
            </a:fld>
            <a:endParaRPr lang="en-US"/>
          </a:p>
        </p:txBody>
      </p:sp>
    </p:spTree>
    <p:extLst>
      <p:ext uri="{BB962C8B-B14F-4D97-AF65-F5344CB8AC3E}">
        <p14:creationId xmlns:p14="http://schemas.microsoft.com/office/powerpoint/2010/main" val="994992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p:txBody>
          <a:bodyPr>
            <a:normAutofit fontScale="90000"/>
          </a:bodyPr>
          <a:lstStyle/>
          <a:p>
            <a:r>
              <a:rPr lang="en-IN" dirty="0"/>
              <a:t>Software &amp; Hardware Requirements</a:t>
            </a:r>
          </a:p>
        </p:txBody>
      </p:sp>
      <p:sp>
        <p:nvSpPr>
          <p:cNvPr id="3" name="Content Placeholder 2">
            <a:extLst>
              <a:ext uri="{FF2B5EF4-FFF2-40B4-BE49-F238E27FC236}">
                <a16:creationId xmlns:a16="http://schemas.microsoft.com/office/drawing/2014/main" id="{AB1EBEB7-6EC6-59E9-6A64-0C3DD4EF15BD}"/>
              </a:ext>
            </a:extLst>
          </p:cNvPr>
          <p:cNvSpPr>
            <a:spLocks noGrp="1"/>
          </p:cNvSpPr>
          <p:nvPr>
            <p:ph idx="1"/>
          </p:nvPr>
        </p:nvSpPr>
        <p:spPr/>
        <p:txBody>
          <a:bodyPr>
            <a:normAutofit/>
          </a:bodyPr>
          <a:lstStyle/>
          <a:p>
            <a:pPr algn="just"/>
            <a:r>
              <a:rPr lang="en-IN" sz="2400" dirty="0"/>
              <a:t>Software Specification:</a:t>
            </a:r>
          </a:p>
          <a:p>
            <a:pPr lvl="1" algn="just"/>
            <a:r>
              <a:rPr lang="en-IN" sz="2000" dirty="0"/>
              <a:t>Operating System: Windows 10 or higher</a:t>
            </a:r>
          </a:p>
          <a:p>
            <a:pPr lvl="1" algn="just"/>
            <a:r>
              <a:rPr lang="en-IN" sz="2000" dirty="0"/>
              <a:t>Machine Learning Plugins: TensorFlow, </a:t>
            </a:r>
            <a:r>
              <a:rPr lang="en-IN" sz="2000" dirty="0" err="1"/>
              <a:t>PyTorch</a:t>
            </a:r>
            <a:endParaRPr lang="en-IN" sz="2000" dirty="0"/>
          </a:p>
          <a:p>
            <a:pPr lvl="1" algn="just"/>
            <a:r>
              <a:rPr lang="en-IN" sz="2000" dirty="0"/>
              <a:t>Deep Learning Frameworks: </a:t>
            </a:r>
            <a:r>
              <a:rPr lang="en-IN" sz="2000" dirty="0" err="1"/>
              <a:t>PyTorch</a:t>
            </a:r>
            <a:endParaRPr lang="en-IN" sz="2000" dirty="0"/>
          </a:p>
          <a:p>
            <a:pPr lvl="1" algn="just"/>
            <a:r>
              <a:rPr lang="en-IN" sz="2000" dirty="0"/>
              <a:t>Image Processing Libraries: OpenCV, scikit-image</a:t>
            </a:r>
          </a:p>
          <a:p>
            <a:pPr lvl="1" algn="just"/>
            <a:r>
              <a:rPr lang="en-IN" sz="2000" dirty="0"/>
              <a:t>Data Analysis and Visualization: Pandas, NumPy, Matplotlib, Seaborn</a:t>
            </a:r>
          </a:p>
          <a:p>
            <a:pPr lvl="1" algn="just"/>
            <a:r>
              <a:rPr lang="en-IN" sz="2000" dirty="0"/>
              <a:t>Model Evaluation Metrics: </a:t>
            </a:r>
            <a:r>
              <a:rPr lang="en-IN" sz="2000" dirty="0" err="1"/>
              <a:t>Torchmetrics</a:t>
            </a:r>
            <a:r>
              <a:rPr lang="en-IN" sz="2000" dirty="0"/>
              <a:t>, Scikit-learn</a:t>
            </a:r>
          </a:p>
          <a:p>
            <a:pPr lvl="1" algn="just"/>
            <a:r>
              <a:rPr lang="en-IN" sz="2000" dirty="0"/>
              <a:t>Development Environment: Python 3.x</a:t>
            </a:r>
          </a:p>
          <a:p>
            <a:pPr lvl="1" algn="just"/>
            <a:r>
              <a:rPr lang="en-IN" sz="2000" dirty="0"/>
              <a:t>Additional Libraries: </a:t>
            </a:r>
            <a:r>
              <a:rPr lang="en-IN" sz="2000" dirty="0" err="1"/>
              <a:t>tqdm</a:t>
            </a:r>
            <a:endParaRPr lang="en-IN" sz="2000" dirty="0"/>
          </a:p>
        </p:txBody>
      </p:sp>
      <p:sp>
        <p:nvSpPr>
          <p:cNvPr id="4" name="Footer Placeholder 3">
            <a:extLst>
              <a:ext uri="{FF2B5EF4-FFF2-40B4-BE49-F238E27FC236}">
                <a16:creationId xmlns:a16="http://schemas.microsoft.com/office/drawing/2014/main" id="{DFD8FDE7-D628-D47F-A9DA-C23ED44C03D8}"/>
              </a:ext>
            </a:extLst>
          </p:cNvPr>
          <p:cNvSpPr>
            <a:spLocks noGrp="1"/>
          </p:cNvSpPr>
          <p:nvPr>
            <p:ph type="ftr" sz="quarter" idx="11"/>
          </p:nvPr>
        </p:nvSpPr>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0908A616-1AE7-6863-EF1E-DA60545B89C4}"/>
              </a:ext>
            </a:extLst>
          </p:cNvPr>
          <p:cNvSpPr>
            <a:spLocks noGrp="1"/>
          </p:cNvSpPr>
          <p:nvPr>
            <p:ph type="dt" sz="half" idx="10"/>
          </p:nvPr>
        </p:nvSpPr>
        <p:spPr/>
        <p:txBody>
          <a:bodyPr/>
          <a:lstStyle/>
          <a:p>
            <a:fld id="{D01E1170-A2D6-4C5F-93B4-267EC31B664A}" type="datetime1">
              <a:rPr lang="en-US" smtClean="0"/>
              <a:t>5/12/2024</a:t>
            </a:fld>
            <a:endParaRPr lang="en-US"/>
          </a:p>
        </p:txBody>
      </p:sp>
      <p:sp>
        <p:nvSpPr>
          <p:cNvPr id="6" name="Slide Number Placeholder 5">
            <a:extLst>
              <a:ext uri="{FF2B5EF4-FFF2-40B4-BE49-F238E27FC236}">
                <a16:creationId xmlns:a16="http://schemas.microsoft.com/office/drawing/2014/main" id="{AD6BA2D4-1FF5-6A14-69D7-B8928373639D}"/>
              </a:ext>
            </a:extLst>
          </p:cNvPr>
          <p:cNvSpPr>
            <a:spLocks noGrp="1"/>
          </p:cNvSpPr>
          <p:nvPr>
            <p:ph type="sldNum" sz="quarter" idx="12"/>
          </p:nvPr>
        </p:nvSpPr>
        <p:spPr/>
        <p:txBody>
          <a:bodyPr/>
          <a:lstStyle/>
          <a:p>
            <a:fld id="{BECDEB80-DBCE-406A-80BF-FEBEE692EE79}" type="slidenum">
              <a:rPr lang="en-US" smtClean="0"/>
              <a:t>14</a:t>
            </a:fld>
            <a:endParaRPr lang="en-US"/>
          </a:p>
        </p:txBody>
      </p:sp>
    </p:spTree>
    <p:extLst>
      <p:ext uri="{BB962C8B-B14F-4D97-AF65-F5344CB8AC3E}">
        <p14:creationId xmlns:p14="http://schemas.microsoft.com/office/powerpoint/2010/main" val="2389465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D6FC-4623-DB0D-464A-023A669477C3}"/>
              </a:ext>
            </a:extLst>
          </p:cNvPr>
          <p:cNvSpPr>
            <a:spLocks noGrp="1"/>
          </p:cNvSpPr>
          <p:nvPr>
            <p:ph type="title"/>
          </p:nvPr>
        </p:nvSpPr>
        <p:spPr/>
        <p:txBody>
          <a:bodyPr>
            <a:normAutofit fontScale="90000"/>
          </a:bodyPr>
          <a:lstStyle/>
          <a:p>
            <a:r>
              <a:rPr lang="en-IN" dirty="0"/>
              <a:t>Software &amp; Hardware Requirements</a:t>
            </a:r>
          </a:p>
        </p:txBody>
      </p:sp>
      <p:sp>
        <p:nvSpPr>
          <p:cNvPr id="3" name="Content Placeholder 2">
            <a:extLst>
              <a:ext uri="{FF2B5EF4-FFF2-40B4-BE49-F238E27FC236}">
                <a16:creationId xmlns:a16="http://schemas.microsoft.com/office/drawing/2014/main" id="{AB1EBEB7-6EC6-59E9-6A64-0C3DD4EF15BD}"/>
              </a:ext>
            </a:extLst>
          </p:cNvPr>
          <p:cNvSpPr>
            <a:spLocks noGrp="1"/>
          </p:cNvSpPr>
          <p:nvPr>
            <p:ph idx="1"/>
          </p:nvPr>
        </p:nvSpPr>
        <p:spPr/>
        <p:txBody>
          <a:bodyPr>
            <a:normAutofit/>
          </a:bodyPr>
          <a:lstStyle/>
          <a:p>
            <a:pPr algn="just"/>
            <a:r>
              <a:rPr lang="en-IN" sz="2400" dirty="0"/>
              <a:t>Hardware Specification:</a:t>
            </a:r>
          </a:p>
          <a:p>
            <a:pPr lvl="1" algn="just"/>
            <a:r>
              <a:rPr lang="en-IN" sz="2000" dirty="0"/>
              <a:t>Processor: Intel i5 12500</a:t>
            </a:r>
          </a:p>
          <a:p>
            <a:pPr lvl="1" algn="just"/>
            <a:r>
              <a:rPr lang="en-IN" sz="2000" dirty="0"/>
              <a:t>RAM: 16GB</a:t>
            </a:r>
          </a:p>
          <a:p>
            <a:pPr lvl="1" algn="just"/>
            <a:r>
              <a:rPr lang="en-IN" sz="2000" dirty="0"/>
              <a:t>Graphics Card: Nvidia RTX 3060</a:t>
            </a:r>
          </a:p>
          <a:p>
            <a:pPr lvl="1" algn="just"/>
            <a:r>
              <a:rPr lang="en-IN" sz="2000" dirty="0"/>
              <a:t>Storage: 1TB SSD</a:t>
            </a:r>
          </a:p>
          <a:p>
            <a:pPr lvl="1" algn="just"/>
            <a:r>
              <a:rPr lang="en-IN" sz="2000" dirty="0"/>
              <a:t>Additional Components: Other computational resources for Deep Learning (DL) model training and inference. </a:t>
            </a:r>
            <a:endParaRPr lang="en-IN" sz="1600" dirty="0"/>
          </a:p>
        </p:txBody>
      </p:sp>
      <p:sp>
        <p:nvSpPr>
          <p:cNvPr id="4" name="Footer Placeholder 3">
            <a:extLst>
              <a:ext uri="{FF2B5EF4-FFF2-40B4-BE49-F238E27FC236}">
                <a16:creationId xmlns:a16="http://schemas.microsoft.com/office/drawing/2014/main" id="{DFD8FDE7-D628-D47F-A9DA-C23ED44C03D8}"/>
              </a:ext>
            </a:extLst>
          </p:cNvPr>
          <p:cNvSpPr>
            <a:spLocks noGrp="1"/>
          </p:cNvSpPr>
          <p:nvPr>
            <p:ph type="ftr" sz="quarter" idx="11"/>
          </p:nvPr>
        </p:nvSpPr>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649EBC96-6020-3324-F924-560BDDE00050}"/>
              </a:ext>
            </a:extLst>
          </p:cNvPr>
          <p:cNvSpPr>
            <a:spLocks noGrp="1"/>
          </p:cNvSpPr>
          <p:nvPr>
            <p:ph type="dt" sz="half" idx="10"/>
          </p:nvPr>
        </p:nvSpPr>
        <p:spPr/>
        <p:txBody>
          <a:bodyPr/>
          <a:lstStyle/>
          <a:p>
            <a:fld id="{1373108A-7DE5-4868-82C9-049DB0B2DA21}" type="datetime1">
              <a:rPr lang="en-US" smtClean="0"/>
              <a:t>5/12/2024</a:t>
            </a:fld>
            <a:endParaRPr lang="en-US"/>
          </a:p>
        </p:txBody>
      </p:sp>
      <p:sp>
        <p:nvSpPr>
          <p:cNvPr id="6" name="Slide Number Placeholder 5">
            <a:extLst>
              <a:ext uri="{FF2B5EF4-FFF2-40B4-BE49-F238E27FC236}">
                <a16:creationId xmlns:a16="http://schemas.microsoft.com/office/drawing/2014/main" id="{B39A65A3-531B-1642-288F-E11CB15808D7}"/>
              </a:ext>
            </a:extLst>
          </p:cNvPr>
          <p:cNvSpPr>
            <a:spLocks noGrp="1"/>
          </p:cNvSpPr>
          <p:nvPr>
            <p:ph type="sldNum" sz="quarter" idx="12"/>
          </p:nvPr>
        </p:nvSpPr>
        <p:spPr/>
        <p:txBody>
          <a:bodyPr/>
          <a:lstStyle/>
          <a:p>
            <a:fld id="{BECDEB80-DBCE-406A-80BF-FEBEE692EE79}" type="slidenum">
              <a:rPr lang="en-US" smtClean="0"/>
              <a:t>15</a:t>
            </a:fld>
            <a:endParaRPr lang="en-US"/>
          </a:p>
        </p:txBody>
      </p:sp>
    </p:spTree>
    <p:extLst>
      <p:ext uri="{BB962C8B-B14F-4D97-AF65-F5344CB8AC3E}">
        <p14:creationId xmlns:p14="http://schemas.microsoft.com/office/powerpoint/2010/main" val="100580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7656-446E-94CD-6CAB-A4F924A4BDFF}"/>
              </a:ext>
            </a:extLst>
          </p:cNvPr>
          <p:cNvSpPr>
            <a:spLocks noGrp="1"/>
          </p:cNvSpPr>
          <p:nvPr>
            <p:ph type="title"/>
          </p:nvPr>
        </p:nvSpPr>
        <p:spPr/>
        <p:txBody>
          <a:bodyPr/>
          <a:lstStyle/>
          <a:p>
            <a:r>
              <a:rPr lang="en-IN" dirty="0"/>
              <a:t>Future Work</a:t>
            </a:r>
          </a:p>
        </p:txBody>
      </p:sp>
      <p:sp>
        <p:nvSpPr>
          <p:cNvPr id="3" name="Content Placeholder 2">
            <a:extLst>
              <a:ext uri="{FF2B5EF4-FFF2-40B4-BE49-F238E27FC236}">
                <a16:creationId xmlns:a16="http://schemas.microsoft.com/office/drawing/2014/main" id="{1906A81A-28F9-71DA-01A4-CEA6DD937F6D}"/>
              </a:ext>
            </a:extLst>
          </p:cNvPr>
          <p:cNvSpPr>
            <a:spLocks noGrp="1"/>
          </p:cNvSpPr>
          <p:nvPr>
            <p:ph idx="1"/>
          </p:nvPr>
        </p:nvSpPr>
        <p:spPr/>
        <p:txBody>
          <a:bodyPr>
            <a:normAutofit fontScale="85000" lnSpcReduction="10000"/>
          </a:bodyPr>
          <a:lstStyle/>
          <a:p>
            <a:pPr marL="0" indent="0">
              <a:buNone/>
            </a:pPr>
            <a:r>
              <a:rPr lang="en-GB" sz="2400" dirty="0"/>
              <a:t>Future work will focus on several enhancements to further validate and improve the proposed method:</a:t>
            </a:r>
          </a:p>
          <a:p>
            <a:r>
              <a:rPr lang="en-GB" sz="2400" b="1" dirty="0"/>
              <a:t>Multi-</a:t>
            </a:r>
            <a:r>
              <a:rPr lang="en-GB" sz="2400" b="1" dirty="0" err="1"/>
              <a:t>Center</a:t>
            </a:r>
            <a:r>
              <a:rPr lang="en-GB" sz="2400" b="1" dirty="0"/>
              <a:t> Data Validation: </a:t>
            </a:r>
          </a:p>
          <a:p>
            <a:pPr lvl="1" algn="just"/>
            <a:r>
              <a:rPr lang="en-GB" sz="2000" dirty="0"/>
              <a:t>Expanding the validation of the method using data from multiple </a:t>
            </a:r>
            <a:r>
              <a:rPr lang="en-GB" sz="2000" dirty="0" err="1"/>
              <a:t>centers</a:t>
            </a:r>
            <a:r>
              <a:rPr lang="en-GB" sz="2000" dirty="0"/>
              <a:t> will enhance its generalization capability and robustness across diverse clinical settings. </a:t>
            </a:r>
          </a:p>
          <a:p>
            <a:pPr lvl="1" algn="just"/>
            <a:r>
              <a:rPr lang="en-GB" sz="2000" dirty="0"/>
              <a:t>Incorporating data from different medical institutions will help assess the method's performance under varied imaging conditions and patient populations, thereby increasing its reliability and applicability in real-world scenarios.</a:t>
            </a:r>
          </a:p>
          <a:p>
            <a:pPr algn="just"/>
            <a:r>
              <a:rPr lang="en-GB" sz="2400" b="1" dirty="0"/>
              <a:t>Utilization of Generative Adversarial Networks (GANs):</a:t>
            </a:r>
          </a:p>
          <a:p>
            <a:pPr lvl="1" algn="just"/>
            <a:r>
              <a:rPr lang="en-GB" sz="2000" dirty="0"/>
              <a:t>To further refine tissue classification, the incorporation of Generative Adversarial Networks (GANs) presents a promising avenue. </a:t>
            </a:r>
          </a:p>
          <a:p>
            <a:pPr lvl="1" algn="just"/>
            <a:r>
              <a:rPr lang="en-GB" sz="2000" dirty="0"/>
              <a:t>GANs can generate synthetic images that closely resemble real bladder tissue samples, facilitating data augmentation and diversification of the training dataset. By exposing the model to a broader spectrum of bladder tissue variations, GANs can enhance the model's robustness and generalization capabilities, thereby mitigating the risk of overfitting and improving performance on unseen data  </a:t>
            </a:r>
            <a:endParaRPr lang="en-IN" sz="2000" dirty="0"/>
          </a:p>
        </p:txBody>
      </p:sp>
      <p:sp>
        <p:nvSpPr>
          <p:cNvPr id="4" name="Footer Placeholder 3">
            <a:extLst>
              <a:ext uri="{FF2B5EF4-FFF2-40B4-BE49-F238E27FC236}">
                <a16:creationId xmlns:a16="http://schemas.microsoft.com/office/drawing/2014/main" id="{07B2357C-DC08-3F5C-DBAE-510ABF49609F}"/>
              </a:ext>
            </a:extLst>
          </p:cNvPr>
          <p:cNvSpPr>
            <a:spLocks noGrp="1"/>
          </p:cNvSpPr>
          <p:nvPr>
            <p:ph type="ftr" sz="quarter" idx="11"/>
          </p:nvPr>
        </p:nvSpPr>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7B6552A6-8851-6811-80AB-0CF2925BE0AA}"/>
              </a:ext>
            </a:extLst>
          </p:cNvPr>
          <p:cNvSpPr>
            <a:spLocks noGrp="1"/>
          </p:cNvSpPr>
          <p:nvPr>
            <p:ph type="dt" sz="half" idx="10"/>
          </p:nvPr>
        </p:nvSpPr>
        <p:spPr/>
        <p:txBody>
          <a:bodyPr/>
          <a:lstStyle/>
          <a:p>
            <a:fld id="{0616CAE1-CCC7-49D3-8E8C-0622A083DA1F}" type="datetime1">
              <a:rPr lang="en-US" smtClean="0"/>
              <a:t>5/12/2024</a:t>
            </a:fld>
            <a:endParaRPr lang="en-US"/>
          </a:p>
        </p:txBody>
      </p:sp>
      <p:sp>
        <p:nvSpPr>
          <p:cNvPr id="6" name="Slide Number Placeholder 5">
            <a:extLst>
              <a:ext uri="{FF2B5EF4-FFF2-40B4-BE49-F238E27FC236}">
                <a16:creationId xmlns:a16="http://schemas.microsoft.com/office/drawing/2014/main" id="{8517E355-F0DB-3CB6-5D3A-C9244DF7C459}"/>
              </a:ext>
            </a:extLst>
          </p:cNvPr>
          <p:cNvSpPr>
            <a:spLocks noGrp="1"/>
          </p:cNvSpPr>
          <p:nvPr>
            <p:ph type="sldNum" sz="quarter" idx="12"/>
          </p:nvPr>
        </p:nvSpPr>
        <p:spPr/>
        <p:txBody>
          <a:bodyPr/>
          <a:lstStyle/>
          <a:p>
            <a:fld id="{BECDEB80-DBCE-406A-80BF-FEBEE692EE79}" type="slidenum">
              <a:rPr lang="en-US" smtClean="0"/>
              <a:t>16</a:t>
            </a:fld>
            <a:endParaRPr lang="en-US"/>
          </a:p>
        </p:txBody>
      </p:sp>
    </p:spTree>
    <p:extLst>
      <p:ext uri="{BB962C8B-B14F-4D97-AF65-F5344CB8AC3E}">
        <p14:creationId xmlns:p14="http://schemas.microsoft.com/office/powerpoint/2010/main" val="1165063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References</a:t>
            </a:r>
          </a:p>
        </p:txBody>
      </p:sp>
      <p:sp>
        <p:nvSpPr>
          <p:cNvPr id="3" name="Content Placeholder 2"/>
          <p:cNvSpPr>
            <a:spLocks noGrp="1"/>
          </p:cNvSpPr>
          <p:nvPr>
            <p:ph idx="1"/>
          </p:nvPr>
        </p:nvSpPr>
        <p:spPr>
          <a:xfrm>
            <a:off x="457200" y="990600"/>
            <a:ext cx="8229600" cy="5059363"/>
          </a:xfrm>
        </p:spPr>
        <p:txBody>
          <a:bodyPr>
            <a:noAutofit/>
          </a:bodyPr>
          <a:lstStyle/>
          <a:p>
            <a:pPr marL="0" indent="0" algn="just">
              <a:buNone/>
            </a:pPr>
            <a:r>
              <a:rPr lang="en-GB" sz="1400" b="1" dirty="0">
                <a:latin typeface="Times New Roman" pitchFamily="18" charset="0"/>
                <a:cs typeface="Times New Roman" pitchFamily="18" charset="0"/>
              </a:rPr>
              <a:t>[1] </a:t>
            </a:r>
            <a:r>
              <a:rPr lang="en-GB" sz="1400" dirty="0">
                <a:latin typeface="Times New Roman" pitchFamily="18" charset="0"/>
                <a:cs typeface="Times New Roman" pitchFamily="18" charset="0"/>
              </a:rPr>
              <a:t>Al-</a:t>
            </a:r>
            <a:r>
              <a:rPr lang="en-GB" sz="1400" dirty="0" err="1">
                <a:latin typeface="Times New Roman" pitchFamily="18" charset="0"/>
                <a:cs typeface="Times New Roman" pitchFamily="18" charset="0"/>
              </a:rPr>
              <a:t>Danakh</a:t>
            </a:r>
            <a:r>
              <a:rPr lang="en-GB" sz="1400" dirty="0">
                <a:latin typeface="Times New Roman" pitchFamily="18" charset="0"/>
                <a:cs typeface="Times New Roman" pitchFamily="18" charset="0"/>
              </a:rPr>
              <a:t>, A., Safi, M., Al-Radhi, M., Zhu, X., &amp; Yang, D. (2022).Surgery improves overall and cancer-specific survival of rare urinary cancers; population - Based study. Surgical Oncology, 44, 101807. </a:t>
            </a:r>
            <a:r>
              <a:rPr lang="en-GB" sz="1400" dirty="0">
                <a:latin typeface="Times New Roman" pitchFamily="18" charset="0"/>
                <a:cs typeface="Times New Roman" pitchFamily="18" charset="0"/>
                <a:hlinkClick r:id="rId2"/>
              </a:rPr>
              <a:t>https://doi.org/10.1016/j.suronc.2022.101807</a:t>
            </a:r>
            <a:endParaRPr lang="en-GB" sz="1400" dirty="0">
              <a:latin typeface="Times New Roman" pitchFamily="18" charset="0"/>
              <a:cs typeface="Times New Roman" pitchFamily="18" charset="0"/>
            </a:endParaRPr>
          </a:p>
          <a:p>
            <a:pPr marL="0" indent="0" algn="just">
              <a:buNone/>
            </a:pPr>
            <a:endParaRPr lang="en-US" sz="1400" b="1" dirty="0">
              <a:latin typeface="Times New Roman" pitchFamily="18" charset="0"/>
              <a:cs typeface="Times New Roman" pitchFamily="18" charset="0"/>
            </a:endParaRPr>
          </a:p>
          <a:p>
            <a:pPr marL="0" indent="0" algn="just">
              <a:buNone/>
            </a:pPr>
            <a:r>
              <a:rPr lang="en-US" sz="1400" b="1" dirty="0">
                <a:latin typeface="Times New Roman" pitchFamily="18" charset="0"/>
                <a:cs typeface="Times New Roman" pitchFamily="18" charset="0"/>
              </a:rPr>
              <a:t>[2] </a:t>
            </a:r>
            <a:r>
              <a:rPr lang="en-US" sz="1400" dirty="0">
                <a:latin typeface="Times New Roman" pitchFamily="18" charset="0"/>
                <a:cs typeface="Times New Roman" pitchFamily="18" charset="0"/>
              </a:rPr>
              <a:t>Koul, A., Kumar, Y., Gupta, A. (2022, October 10). A Study on Bladder Cancer Detection using AI-based Learning Techniques. 2022 2nd International Conference on Technological Advancements in Computational Sciences (ICTACS). http://dx.doi.org/10.1109/ictacs56270.2022.9988462</a:t>
            </a:r>
          </a:p>
          <a:p>
            <a:pPr marL="0" indent="0" algn="just">
              <a:buNone/>
            </a:pPr>
            <a:endParaRPr lang="en-US" sz="1400" b="1" dirty="0">
              <a:latin typeface="Times New Roman" pitchFamily="18" charset="0"/>
              <a:cs typeface="Times New Roman" pitchFamily="18" charset="0"/>
            </a:endParaRPr>
          </a:p>
          <a:p>
            <a:pPr marL="0" indent="0" algn="just">
              <a:buNone/>
            </a:pPr>
            <a:r>
              <a:rPr lang="en-US" sz="1400" b="1" dirty="0">
                <a:latin typeface="Times New Roman" pitchFamily="18" charset="0"/>
                <a:cs typeface="Times New Roman" pitchFamily="18" charset="0"/>
              </a:rPr>
              <a:t>[3] </a:t>
            </a:r>
            <a:r>
              <a:rPr lang="en-US" sz="1400" dirty="0">
                <a:latin typeface="Times New Roman" pitchFamily="18" charset="0"/>
                <a:cs typeface="Times New Roman" pitchFamily="18" charset="0"/>
              </a:rPr>
              <a:t>Chang, T. C., </a:t>
            </a:r>
            <a:r>
              <a:rPr lang="en-US" sz="1400" dirty="0" err="1">
                <a:latin typeface="Times New Roman" pitchFamily="18" charset="0"/>
                <a:cs typeface="Times New Roman" pitchFamily="18" charset="0"/>
              </a:rPr>
              <a:t>Shkolyar</a:t>
            </a:r>
            <a:r>
              <a:rPr lang="en-US" sz="1400" dirty="0">
                <a:latin typeface="Times New Roman" pitchFamily="18" charset="0"/>
                <a:cs typeface="Times New Roman" pitchFamily="18" charset="0"/>
              </a:rPr>
              <a:t>, E., Del Giudice, F., </a:t>
            </a:r>
            <a:r>
              <a:rPr lang="en-US" sz="1400" dirty="0" err="1">
                <a:latin typeface="Times New Roman" pitchFamily="18" charset="0"/>
                <a:cs typeface="Times New Roman" pitchFamily="18" charset="0"/>
              </a:rPr>
              <a:t>Eminaga</a:t>
            </a:r>
            <a:r>
              <a:rPr lang="en-US" sz="1400" dirty="0">
                <a:latin typeface="Times New Roman" pitchFamily="18" charset="0"/>
                <a:cs typeface="Times New Roman" pitchFamily="18" charset="0"/>
              </a:rPr>
              <a:t>, O., Lee, T., Laurie, M., Seufert, C., Jia, X., Mach, K. E., Xing, L., Liao, J. C. (2023). Real-time detection of bladder cancer using augmented cystoscopy with deep learning: A pilot study. Journal of Endourology. https://doi.org/10.1089/end.2023.0056</a:t>
            </a:r>
          </a:p>
          <a:p>
            <a:pPr marL="0" indent="0" algn="just">
              <a:buNone/>
            </a:pPr>
            <a:endParaRPr lang="en-US" sz="1400" b="1" dirty="0">
              <a:latin typeface="Times New Roman" pitchFamily="18" charset="0"/>
              <a:cs typeface="Times New Roman" pitchFamily="18" charset="0"/>
            </a:endParaRPr>
          </a:p>
          <a:p>
            <a:pPr marL="0" indent="0" algn="just">
              <a:buNone/>
            </a:pPr>
            <a:r>
              <a:rPr lang="en-US" sz="1400" b="1" dirty="0">
                <a:latin typeface="Times New Roman" pitchFamily="18" charset="0"/>
                <a:cs typeface="Times New Roman" pitchFamily="18" charset="0"/>
              </a:rPr>
              <a:t>[4] </a:t>
            </a:r>
            <a:r>
              <a:rPr lang="en-US" sz="1400" dirty="0">
                <a:latin typeface="Times New Roman" pitchFamily="18" charset="0"/>
                <a:cs typeface="Times New Roman" pitchFamily="18" charset="0"/>
              </a:rPr>
              <a:t>Li, S., Xin, K., Pan, S., Wang, Y., Zheng, J., Li, Z., Liu, X., Liu, B., Xu, Z. Chen, X. (2023a). Blood-based liquid biopsy: Insights into early detection, prediction, and treatment monitoring of bladder cancer. Cellular amp; Molecular Biology Letters, 28(1). </a:t>
            </a:r>
            <a:r>
              <a:rPr lang="en-US" sz="1400" dirty="0">
                <a:latin typeface="Times New Roman" pitchFamily="18" charset="0"/>
                <a:cs typeface="Times New Roman" pitchFamily="18" charset="0"/>
                <a:hlinkClick r:id="rId3"/>
              </a:rPr>
              <a:t>https://doi.org/10.1186/s11658-</a:t>
            </a:r>
            <a:r>
              <a:rPr lang="en-US" sz="1400" u="sng" dirty="0">
                <a:latin typeface="Times New Roman" pitchFamily="18" charset="0"/>
                <a:cs typeface="Times New Roman" pitchFamily="18" charset="0"/>
                <a:hlinkClick r:id="rId3"/>
              </a:rPr>
              <a:t>023-00442-z</a:t>
            </a:r>
            <a:endParaRPr lang="en-US" sz="1400" u="sng" dirty="0">
              <a:latin typeface="Times New Roman" pitchFamily="18" charset="0"/>
              <a:cs typeface="Times New Roman" pitchFamily="18" charset="0"/>
            </a:endParaRPr>
          </a:p>
          <a:p>
            <a:pPr marL="0" indent="0" algn="just">
              <a:buNone/>
            </a:pPr>
            <a:endParaRPr lang="en-US" sz="1400" b="1" dirty="0">
              <a:latin typeface="Times New Roman" pitchFamily="18" charset="0"/>
              <a:cs typeface="Times New Roman" pitchFamily="18" charset="0"/>
            </a:endParaRPr>
          </a:p>
          <a:p>
            <a:pPr marL="0" indent="0" algn="just">
              <a:buNone/>
            </a:pPr>
            <a:r>
              <a:rPr lang="en-US" sz="1400" b="1" dirty="0">
                <a:latin typeface="Times New Roman" pitchFamily="18" charset="0"/>
                <a:cs typeface="Times New Roman" pitchFamily="18" charset="0"/>
              </a:rPr>
              <a:t>[5] </a:t>
            </a:r>
            <a:r>
              <a:rPr lang="en-US" sz="1400" dirty="0" err="1">
                <a:latin typeface="Times New Roman" pitchFamily="18" charset="0"/>
                <a:cs typeface="Times New Roman" pitchFamily="18" charset="0"/>
              </a:rPr>
              <a:t>Genega</a:t>
            </a:r>
            <a:r>
              <a:rPr lang="en-US" sz="1400" dirty="0">
                <a:latin typeface="Times New Roman" pitchFamily="18" charset="0"/>
                <a:cs typeface="Times New Roman" pitchFamily="18" charset="0"/>
              </a:rPr>
              <a:t>, E. (2023). Staging of urothelial carcinoma of the urinary bladder and urethra. In Uropathology (pp. 273–274). Elsevier. http://doi.org/10.1016/b978-0-323-65395-4.00130-5</a:t>
            </a:r>
          </a:p>
        </p:txBody>
      </p:sp>
      <p:sp>
        <p:nvSpPr>
          <p:cNvPr id="4" name="Footer Placeholder 3"/>
          <p:cNvSpPr>
            <a:spLocks noGrp="1"/>
          </p:cNvSpPr>
          <p:nvPr>
            <p:ph type="ftr" sz="quarter" idx="11"/>
          </p:nvPr>
        </p:nvSpPr>
        <p:spPr>
          <a:xfrm>
            <a:off x="685800" y="6356351"/>
            <a:ext cx="7620000" cy="273049"/>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F1B54745-8242-817F-AA9A-9E73B3A3D569}"/>
              </a:ext>
            </a:extLst>
          </p:cNvPr>
          <p:cNvSpPr>
            <a:spLocks noGrp="1"/>
          </p:cNvSpPr>
          <p:nvPr>
            <p:ph type="dt" sz="half" idx="10"/>
          </p:nvPr>
        </p:nvSpPr>
        <p:spPr/>
        <p:txBody>
          <a:bodyPr/>
          <a:lstStyle/>
          <a:p>
            <a:fld id="{1C326EC4-BA8B-4901-9F93-D962269F5C8E}" type="datetime1">
              <a:rPr lang="en-US" smtClean="0"/>
              <a:t>5/12/2024</a:t>
            </a:fld>
            <a:endParaRPr lang="en-US"/>
          </a:p>
        </p:txBody>
      </p:sp>
      <p:sp>
        <p:nvSpPr>
          <p:cNvPr id="6" name="Slide Number Placeholder 5">
            <a:extLst>
              <a:ext uri="{FF2B5EF4-FFF2-40B4-BE49-F238E27FC236}">
                <a16:creationId xmlns:a16="http://schemas.microsoft.com/office/drawing/2014/main" id="{2CAA183E-5A37-33B4-E41D-5EC2420CF042}"/>
              </a:ext>
            </a:extLst>
          </p:cNvPr>
          <p:cNvSpPr>
            <a:spLocks noGrp="1"/>
          </p:cNvSpPr>
          <p:nvPr>
            <p:ph type="sldNum" sz="quarter" idx="12"/>
          </p:nvPr>
        </p:nvSpPr>
        <p:spPr/>
        <p:txBody>
          <a:bodyPr/>
          <a:lstStyle/>
          <a:p>
            <a:fld id="{BECDEB80-DBCE-406A-80BF-FEBEE692EE79}" type="slidenum">
              <a:rPr lang="en-US" smtClean="0"/>
              <a:t>17</a:t>
            </a:fld>
            <a:endParaRPr lang="en-US"/>
          </a:p>
        </p:txBody>
      </p:sp>
    </p:spTree>
    <p:extLst>
      <p:ext uri="{BB962C8B-B14F-4D97-AF65-F5344CB8AC3E}">
        <p14:creationId xmlns:p14="http://schemas.microsoft.com/office/powerpoint/2010/main" val="755128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References</a:t>
            </a:r>
          </a:p>
        </p:txBody>
      </p:sp>
      <p:sp>
        <p:nvSpPr>
          <p:cNvPr id="3" name="Content Placeholder 2"/>
          <p:cNvSpPr>
            <a:spLocks noGrp="1"/>
          </p:cNvSpPr>
          <p:nvPr>
            <p:ph idx="1"/>
          </p:nvPr>
        </p:nvSpPr>
        <p:spPr>
          <a:xfrm>
            <a:off x="457200" y="990600"/>
            <a:ext cx="8229600" cy="5059363"/>
          </a:xfrm>
        </p:spPr>
        <p:txBody>
          <a:bodyPr>
            <a:noAutofit/>
          </a:bodyPr>
          <a:lstStyle/>
          <a:p>
            <a:pPr marL="0" indent="0" algn="just">
              <a:buNone/>
            </a:pPr>
            <a:r>
              <a:rPr lang="en-US" sz="1400" b="1" dirty="0">
                <a:latin typeface="Times New Roman" pitchFamily="18" charset="0"/>
                <a:cs typeface="Times New Roman" pitchFamily="18" charset="0"/>
              </a:rPr>
              <a:t>[6] </a:t>
            </a:r>
            <a:r>
              <a:rPr lang="en-US" sz="1400" dirty="0">
                <a:latin typeface="Times New Roman" pitchFamily="18" charset="0"/>
                <a:cs typeface="Times New Roman" pitchFamily="18" charset="0"/>
              </a:rPr>
              <a:t>Deng, Z., Dong, W., Xiong, S., Jin, D., Zhou, H., Zhang, L., Xie, L., Deng, Y., Xu, R., Fan, B. (2023). Machine learning models combining computed tomography semantic features and selected clinical variables for accurate prediction of the pathological grade of bladder cancer. Frontiers in Oncology, 13. https://doi.org/10.3389/fonc.2023.1166245</a:t>
            </a:r>
          </a:p>
          <a:p>
            <a:pPr marL="0" indent="0" algn="just">
              <a:buNone/>
            </a:pPr>
            <a:endParaRPr lang="en-US" sz="1400" b="1" dirty="0">
              <a:latin typeface="Times New Roman" pitchFamily="18" charset="0"/>
              <a:cs typeface="Times New Roman" pitchFamily="18" charset="0"/>
            </a:endParaRPr>
          </a:p>
          <a:p>
            <a:pPr marL="0" indent="0" algn="just">
              <a:buNone/>
            </a:pPr>
            <a:r>
              <a:rPr lang="en-US" sz="1400" b="1" dirty="0">
                <a:latin typeface="Times New Roman" pitchFamily="18" charset="0"/>
                <a:cs typeface="Times New Roman" pitchFamily="18" charset="0"/>
              </a:rPr>
              <a:t>[7] </a:t>
            </a:r>
            <a:r>
              <a:rPr lang="en-US" sz="1400" dirty="0" err="1">
                <a:latin typeface="Times New Roman" pitchFamily="18" charset="0"/>
                <a:cs typeface="Times New Roman" pitchFamily="18" charset="0"/>
              </a:rPr>
              <a:t>Lazo</a:t>
            </a:r>
            <a:r>
              <a:rPr lang="en-US" sz="1400" dirty="0">
                <a:latin typeface="Times New Roman" pitchFamily="18" charset="0"/>
                <a:cs typeface="Times New Roman" pitchFamily="18" charset="0"/>
              </a:rPr>
              <a:t>, J. F. (n.d.). Semi-supervised bladder tissue classification in multi-domain endoscopic images </a:t>
            </a:r>
            <a:r>
              <a:rPr lang="en-US" sz="1400" dirty="0">
                <a:latin typeface="Times New Roman" pitchFamily="18" charset="0"/>
                <a:cs typeface="Times New Roman" pitchFamily="18" charset="0"/>
                <a:hlinkClick r:id="rId2"/>
              </a:rPr>
              <a:t>https://doi.org/10.1109/tbme.2023.3265679/</a:t>
            </a:r>
            <a:r>
              <a:rPr lang="en-US" sz="1400">
                <a:latin typeface="Times New Roman" pitchFamily="18" charset="0"/>
                <a:cs typeface="Times New Roman" pitchFamily="18" charset="0"/>
                <a:hlinkClick r:id="rId2"/>
              </a:rPr>
              <a:t>mm1</a:t>
            </a:r>
            <a:r>
              <a:rPr lang="en-US" sz="1400">
                <a:latin typeface="Times New Roman" pitchFamily="18" charset="0"/>
                <a:cs typeface="Times New Roman" pitchFamily="18" charset="0"/>
              </a:rPr>
              <a:t> </a:t>
            </a:r>
            <a:endParaRPr lang="en-US" sz="14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685800" y="6356351"/>
            <a:ext cx="7620000" cy="273049"/>
          </a:xfrm>
        </p:spPr>
        <p:txBody>
          <a:bodyPr/>
          <a:lstStyle/>
          <a:p>
            <a:r>
              <a:rPr lang="en-US" dirty="0"/>
              <a:t>DEPARTMENT OF COMPUTER SCIENCE AND ENGINEERING </a:t>
            </a:r>
          </a:p>
        </p:txBody>
      </p:sp>
      <p:sp>
        <p:nvSpPr>
          <p:cNvPr id="5" name="Date Placeholder 4">
            <a:extLst>
              <a:ext uri="{FF2B5EF4-FFF2-40B4-BE49-F238E27FC236}">
                <a16:creationId xmlns:a16="http://schemas.microsoft.com/office/drawing/2014/main" id="{20429A05-EA3E-D047-E3F5-D562D314BC4B}"/>
              </a:ext>
            </a:extLst>
          </p:cNvPr>
          <p:cNvSpPr>
            <a:spLocks noGrp="1"/>
          </p:cNvSpPr>
          <p:nvPr>
            <p:ph type="dt" sz="half" idx="10"/>
          </p:nvPr>
        </p:nvSpPr>
        <p:spPr/>
        <p:txBody>
          <a:bodyPr/>
          <a:lstStyle/>
          <a:p>
            <a:fld id="{6324FE8F-44A2-40A9-9082-CE546923727B}" type="datetime1">
              <a:rPr lang="en-US" smtClean="0"/>
              <a:t>5/12/2024</a:t>
            </a:fld>
            <a:endParaRPr lang="en-US"/>
          </a:p>
        </p:txBody>
      </p:sp>
      <p:sp>
        <p:nvSpPr>
          <p:cNvPr id="6" name="Slide Number Placeholder 5">
            <a:extLst>
              <a:ext uri="{FF2B5EF4-FFF2-40B4-BE49-F238E27FC236}">
                <a16:creationId xmlns:a16="http://schemas.microsoft.com/office/drawing/2014/main" id="{67558DEB-8127-E987-A305-5EB729521574}"/>
              </a:ext>
            </a:extLst>
          </p:cNvPr>
          <p:cNvSpPr>
            <a:spLocks noGrp="1"/>
          </p:cNvSpPr>
          <p:nvPr>
            <p:ph type="sldNum" sz="quarter" idx="12"/>
          </p:nvPr>
        </p:nvSpPr>
        <p:spPr/>
        <p:txBody>
          <a:bodyPr/>
          <a:lstStyle/>
          <a:p>
            <a:fld id="{BECDEB80-DBCE-406A-80BF-FEBEE692EE79}" type="slidenum">
              <a:rPr lang="en-US" smtClean="0"/>
              <a:t>18</a:t>
            </a:fld>
            <a:endParaRPr lang="en-US"/>
          </a:p>
        </p:txBody>
      </p:sp>
    </p:spTree>
    <p:extLst>
      <p:ext uri="{BB962C8B-B14F-4D97-AF65-F5344CB8AC3E}">
        <p14:creationId xmlns:p14="http://schemas.microsoft.com/office/powerpoint/2010/main" val="2520935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2346</Words>
  <Application>Microsoft Office PowerPoint</Application>
  <PresentationFormat>On-screen Show (4:3)</PresentationFormat>
  <Paragraphs>203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SRM INSTITUTE OF SCIENCE AND TECHNOLOGY Ramapuram , Chennai – 600 089 DEPARTMENT OF COMPUTER SCIENCE AND ENGINEERING</vt:lpstr>
      <vt:lpstr>Agenda</vt:lpstr>
      <vt:lpstr>ABSTRACT</vt:lpstr>
      <vt:lpstr>Scope and Motivation</vt:lpstr>
      <vt:lpstr>Introduction</vt:lpstr>
      <vt:lpstr>Literature Survey</vt:lpstr>
      <vt:lpstr>Literature Survey</vt:lpstr>
      <vt:lpstr>Objective</vt:lpstr>
      <vt:lpstr>Problem Statement</vt:lpstr>
      <vt:lpstr>Proposed Work</vt:lpstr>
      <vt:lpstr>Proposed Work</vt:lpstr>
      <vt:lpstr>Proposed Work</vt:lpstr>
      <vt:lpstr>Proposed Work</vt:lpstr>
      <vt:lpstr>Software &amp; Hardware Requirements</vt:lpstr>
      <vt:lpstr>Software &amp; Hardware Requirements</vt:lpstr>
      <vt:lpstr>Future Work</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Kirtan Ghelani</cp:lastModifiedBy>
  <cp:revision>19</cp:revision>
  <dcterms:created xsi:type="dcterms:W3CDTF">2023-07-26T03:49:14Z</dcterms:created>
  <dcterms:modified xsi:type="dcterms:W3CDTF">2024-05-12T10:52:30Z</dcterms:modified>
</cp:coreProperties>
</file>